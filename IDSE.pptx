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handoutMasterIdLst>
    <p:handoutMasterId r:id="rId20"/>
  </p:handoutMasterIdLst>
  <p:sldIdLst>
    <p:sldId id="262" r:id="rId2"/>
    <p:sldId id="261" r:id="rId3"/>
    <p:sldId id="266" r:id="rId4"/>
    <p:sldId id="264" r:id="rId5"/>
    <p:sldId id="263" r:id="rId6"/>
    <p:sldId id="265" r:id="rId7"/>
    <p:sldId id="267" r:id="rId8"/>
    <p:sldId id="268" r:id="rId9"/>
    <p:sldId id="269" r:id="rId10"/>
    <p:sldId id="270" r:id="rId11"/>
    <p:sldId id="278" r:id="rId12"/>
    <p:sldId id="272" r:id="rId13"/>
    <p:sldId id="279" r:id="rId14"/>
    <p:sldId id="274" r:id="rId15"/>
    <p:sldId id="275" r:id="rId16"/>
    <p:sldId id="276" r:id="rId17"/>
    <p:sldId id="27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4B8C"/>
    <a:srgbClr val="EDEAEA"/>
    <a:srgbClr val="5555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0"/>
    <p:restoredTop sz="94636"/>
  </p:normalViewPr>
  <p:slideViewPr>
    <p:cSldViewPr snapToGrid="0" snapToObjects="1">
      <p:cViewPr varScale="1">
        <p:scale>
          <a:sx n="102" d="100"/>
          <a:sy n="102" d="100"/>
        </p:scale>
        <p:origin x="1056" y="126"/>
      </p:cViewPr>
      <p:guideLst/>
    </p:cSldViewPr>
  </p:slideViewPr>
  <p:notesTextViewPr>
    <p:cViewPr>
      <p:scale>
        <a:sx n="1" d="1"/>
        <a:sy n="1" d="1"/>
      </p:scale>
      <p:origin x="0" y="0"/>
    </p:cViewPr>
  </p:notesTextViewPr>
  <p:notesViewPr>
    <p:cSldViewPr snapToGrid="0" snapToObjects="1">
      <p:cViewPr varScale="1">
        <p:scale>
          <a:sx n="71" d="100"/>
          <a:sy n="71" d="100"/>
        </p:scale>
        <p:origin x="2568"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8B02BC-D360-3D43-9A92-637FD3069957}" type="datetime1">
              <a:rPr lang="en-IN" smtClean="0"/>
              <a:t>06-11-2024</a:t>
            </a:fld>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616CE5-9819-F54B-97D7-E535D1C3917F}" type="slidenum">
              <a:rPr lang="en-US" smtClean="0"/>
              <a:t>‹#›</a:t>
            </a:fld>
            <a:endParaRPr lang="en-US"/>
          </a:p>
        </p:txBody>
      </p:sp>
    </p:spTree>
    <p:extLst>
      <p:ext uri="{BB962C8B-B14F-4D97-AF65-F5344CB8AC3E}">
        <p14:creationId xmlns:p14="http://schemas.microsoft.com/office/powerpoint/2010/main" val="2080764328"/>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400">
                <a:latin typeface="Source Sans Pro" charset="0"/>
                <a:ea typeface="Source Sans Pro" charset="0"/>
                <a:cs typeface="Source Sans Pro" charset="0"/>
              </a:defRPr>
            </a:lvl1pPr>
          </a:lstStyle>
          <a:p>
            <a:fld id="{C563441B-7BE4-2744-ABA0-4FD2AC8404CF}" type="datetime1">
              <a:rPr lang="en-IN" smtClean="0"/>
              <a:t>06-11-2024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2000">
                <a:latin typeface="Source Sans Pro" charset="0"/>
                <a:ea typeface="Source Sans Pro" charset="0"/>
                <a:cs typeface="Source Sans Pro" charset="0"/>
              </a:defRPr>
            </a:lvl1pPr>
          </a:lstStyle>
          <a:p>
            <a:fld id="{36565659-16CB-FC4B-86AF-6ED0A960AC0B}" type="slidenum">
              <a:rPr lang="en-US" smtClean="0"/>
              <a:pPr/>
              <a:t>‹#›</a:t>
            </a:fld>
            <a:endParaRPr lang="en-US"/>
          </a:p>
        </p:txBody>
      </p:sp>
    </p:spTree>
    <p:extLst>
      <p:ext uri="{BB962C8B-B14F-4D97-AF65-F5344CB8AC3E}">
        <p14:creationId xmlns:p14="http://schemas.microsoft.com/office/powerpoint/2010/main" val="1608395955"/>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800" kern="1200">
        <a:solidFill>
          <a:schemeClr val="tx1"/>
        </a:solidFill>
        <a:latin typeface="Source Sans Pro" charset="0"/>
        <a:ea typeface="Source Sans Pro" charset="0"/>
        <a:cs typeface="Source Sans Pro" charset="0"/>
      </a:defRPr>
    </a:lvl1pPr>
    <a:lvl2pPr marL="457200" algn="l" defTabSz="914400" rtl="0" eaLnBrk="1" latinLnBrk="0" hangingPunct="1">
      <a:defRPr sz="1600" kern="1200">
        <a:solidFill>
          <a:schemeClr val="tx1"/>
        </a:solidFill>
        <a:latin typeface="Source Sans Pro" charset="0"/>
        <a:ea typeface="Source Sans Pro" charset="0"/>
        <a:cs typeface="Source Sans Pro" charset="0"/>
      </a:defRPr>
    </a:lvl2pPr>
    <a:lvl3pPr marL="914400" algn="l" defTabSz="914400" rtl="0" eaLnBrk="1" latinLnBrk="0" hangingPunct="1">
      <a:defRPr sz="1400" kern="1200">
        <a:solidFill>
          <a:schemeClr val="tx1"/>
        </a:solidFill>
        <a:latin typeface="Source Sans Pro" charset="0"/>
        <a:ea typeface="Source Sans Pro" charset="0"/>
        <a:cs typeface="Source Sans Pro" charset="0"/>
      </a:defRPr>
    </a:lvl3pPr>
    <a:lvl4pPr marL="1371600" algn="l" defTabSz="914400" rtl="0" eaLnBrk="1" latinLnBrk="0" hangingPunct="1">
      <a:defRPr sz="1200" kern="1200">
        <a:solidFill>
          <a:schemeClr val="tx1"/>
        </a:solidFill>
        <a:latin typeface="Source Sans Pro" charset="0"/>
        <a:ea typeface="Source Sans Pro" charset="0"/>
        <a:cs typeface="Source Sans Pro" charset="0"/>
      </a:defRPr>
    </a:lvl4pPr>
    <a:lvl5pPr marL="1828800" algn="l" defTabSz="914400" rtl="0" eaLnBrk="1" latinLnBrk="0" hangingPunct="1">
      <a:defRPr sz="1100" kern="1200">
        <a:solidFill>
          <a:schemeClr val="tx1"/>
        </a:solidFill>
        <a:latin typeface="Source Sans Pro" charset="0"/>
        <a:ea typeface="Source Sans Pro" charset="0"/>
        <a:cs typeface="Source Sans Pro"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5" name="Rectangle 14"/>
          <p:cNvSpPr/>
          <p:nvPr userDrawn="1"/>
        </p:nvSpPr>
        <p:spPr>
          <a:xfrm>
            <a:off x="0" y="0"/>
            <a:ext cx="12192000" cy="5150734"/>
          </a:xfrm>
          <a:prstGeom prst="rect">
            <a:avLst/>
          </a:prstGeom>
          <a:solidFill>
            <a:srgbClr val="214B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485754"/>
            <a:ext cx="9144000" cy="2387600"/>
          </a:xfrm>
        </p:spPr>
        <p:txBody>
          <a:bodyPr anchor="ctr"/>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148313"/>
            <a:ext cx="9144000" cy="1472877"/>
          </a:xfrm>
        </p:spPr>
        <p:txBody>
          <a:bodyPr>
            <a:normAutofit/>
          </a:bodyPr>
          <a:lstStyle>
            <a:lvl1pPr marL="0" indent="0" algn="ctr">
              <a:buNone/>
              <a:defRPr sz="2800">
                <a:solidFill>
                  <a:srgbClr val="EDEAE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402388"/>
            <a:ext cx="6667016" cy="1230538"/>
          </a:xfrm>
          <a:prstGeom prst="rect">
            <a:avLst/>
          </a:prstGeom>
        </p:spPr>
      </p:pic>
      <p:cxnSp>
        <p:nvCxnSpPr>
          <p:cNvPr id="17" name="Straight Connector 16"/>
          <p:cNvCxnSpPr/>
          <p:nvPr userDrawn="1"/>
        </p:nvCxnSpPr>
        <p:spPr>
          <a:xfrm>
            <a:off x="6736460" y="5335929"/>
            <a:ext cx="0" cy="1354238"/>
          </a:xfrm>
          <a:prstGeom prst="line">
            <a:avLst/>
          </a:prstGeom>
          <a:ln>
            <a:solidFill>
              <a:srgbClr val="214B8C"/>
            </a:solidFill>
          </a:ln>
        </p:spPr>
        <p:style>
          <a:lnRef idx="1">
            <a:schemeClr val="accent1"/>
          </a:lnRef>
          <a:fillRef idx="0">
            <a:schemeClr val="accent1"/>
          </a:fillRef>
          <a:effectRef idx="0">
            <a:schemeClr val="accent1"/>
          </a:effectRef>
          <a:fontRef idx="minor">
            <a:schemeClr val="tx1"/>
          </a:fontRef>
        </p:style>
      </p:cxnSp>
      <p:sp>
        <p:nvSpPr>
          <p:cNvPr id="21" name="Text Placeholder 20"/>
          <p:cNvSpPr>
            <a:spLocks noGrp="1"/>
          </p:cNvSpPr>
          <p:nvPr>
            <p:ph type="body" sz="quarter" idx="10" hasCustomPrompt="1"/>
          </p:nvPr>
        </p:nvSpPr>
        <p:spPr>
          <a:xfrm>
            <a:off x="7048981" y="5335588"/>
            <a:ext cx="4862031" cy="1354137"/>
          </a:xfrm>
        </p:spPr>
        <p:txBody>
          <a:bodyPr anchor="ctr">
            <a:normAutofit/>
          </a:bodyPr>
          <a:lstStyle>
            <a:lvl1pPr>
              <a:defRPr sz="1800" baseline="0"/>
            </a:lvl1pPr>
          </a:lstStyle>
          <a:p>
            <a:pPr lvl="0"/>
            <a:r>
              <a:rPr lang="en-US" dirty="0"/>
              <a:t>Dr./Mr./Mrs. Name</a:t>
            </a:r>
          </a:p>
          <a:p>
            <a:pPr lvl="0"/>
            <a:r>
              <a:rPr lang="en-US" dirty="0"/>
              <a:t>Designation</a:t>
            </a:r>
          </a:p>
        </p:txBody>
      </p:sp>
    </p:spTree>
    <p:extLst>
      <p:ext uri="{BB962C8B-B14F-4D97-AF65-F5344CB8AC3E}">
        <p14:creationId xmlns:p14="http://schemas.microsoft.com/office/powerpoint/2010/main" val="1674665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4320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10370916" y="6311899"/>
            <a:ext cx="1523010" cy="365125"/>
          </a:xfrm>
        </p:spPr>
        <p:txBody>
          <a:bodyPr lIns="90000"/>
          <a:lstStyle>
            <a:lvl1pPr>
              <a:defRPr>
                <a:solidFill>
                  <a:schemeClr val="bg1"/>
                </a:solidFill>
              </a:defRPr>
            </a:lvl1pPr>
          </a:lstStyle>
          <a:p>
            <a:fld id="{1EDEEB96-EEF2-A041-AEC4-04121E2F9632}" type="slidenum">
              <a:rPr lang="en-US" smtClean="0"/>
              <a:pPr/>
              <a:t>‹#›</a:t>
            </a:fld>
            <a:endParaRPr lang="en-US"/>
          </a:p>
        </p:txBody>
      </p:sp>
    </p:spTree>
    <p:extLst>
      <p:ext uri="{BB962C8B-B14F-4D97-AF65-F5344CB8AC3E}">
        <p14:creationId xmlns:p14="http://schemas.microsoft.com/office/powerpoint/2010/main" val="282112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593991"/>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47371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Slide Number Placeholder 7"/>
          <p:cNvSpPr>
            <a:spLocks noGrp="1"/>
          </p:cNvSpPr>
          <p:nvPr>
            <p:ph type="sldNum" sz="quarter" idx="11"/>
          </p:nvPr>
        </p:nvSpPr>
        <p:spPr/>
        <p:txBody>
          <a:bodyPr/>
          <a:lstStyle/>
          <a:p>
            <a:fld id="{1EDEEB96-EEF2-A041-AEC4-04121E2F9632}" type="slidenum">
              <a:rPr lang="en-US" smtClean="0"/>
              <a:t>‹#›</a:t>
            </a:fld>
            <a:endParaRPr lang="en-US" dirty="0"/>
          </a:p>
        </p:txBody>
      </p:sp>
    </p:spTree>
    <p:extLst>
      <p:ext uri="{BB962C8B-B14F-4D97-AF65-F5344CB8AC3E}">
        <p14:creationId xmlns:p14="http://schemas.microsoft.com/office/powerpoint/2010/main" val="1969420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3425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3425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1"/>
          </p:nvPr>
        </p:nvSpPr>
        <p:spPr/>
        <p:txBody>
          <a:bodyPr/>
          <a:lstStyle/>
          <a:p>
            <a:fld id="{1EDEEB96-EEF2-A041-AEC4-04121E2F9632}" type="slidenum">
              <a:rPr lang="en-US" smtClean="0"/>
              <a:t>‹#›</a:t>
            </a:fld>
            <a:endParaRPr lang="en-US" dirty="0"/>
          </a:p>
        </p:txBody>
      </p:sp>
    </p:spTree>
    <p:extLst>
      <p:ext uri="{BB962C8B-B14F-4D97-AF65-F5344CB8AC3E}">
        <p14:creationId xmlns:p14="http://schemas.microsoft.com/office/powerpoint/2010/main" val="886657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4"/>
            <a:ext cx="10515600" cy="943200"/>
          </a:xfrm>
        </p:spPr>
        <p:txBody>
          <a:bodyPr/>
          <a:lstStyle/>
          <a:p>
            <a:r>
              <a:rPr lang="en-US"/>
              <a:t>Click to edit Master title style</a:t>
            </a:r>
          </a:p>
        </p:txBody>
      </p:sp>
      <p:sp>
        <p:nvSpPr>
          <p:cNvPr id="3" name="Text Placeholder 2"/>
          <p:cNvSpPr>
            <a:spLocks noGrp="1"/>
          </p:cNvSpPr>
          <p:nvPr>
            <p:ph type="body" idx="1"/>
          </p:nvPr>
        </p:nvSpPr>
        <p:spPr>
          <a:xfrm>
            <a:off x="839788" y="15558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379773"/>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5558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379773"/>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p:cNvSpPr>
            <a:spLocks noGrp="1"/>
          </p:cNvSpPr>
          <p:nvPr>
            <p:ph type="sldNum" sz="quarter" idx="11"/>
          </p:nvPr>
        </p:nvSpPr>
        <p:spPr/>
        <p:txBody>
          <a:bodyPr/>
          <a:lstStyle/>
          <a:p>
            <a:fld id="{1EDEEB96-EEF2-A041-AEC4-04121E2F9632}" type="slidenum">
              <a:rPr lang="en-US" smtClean="0"/>
              <a:t>‹#›</a:t>
            </a:fld>
            <a:endParaRPr lang="en-US" dirty="0"/>
          </a:p>
        </p:txBody>
      </p:sp>
    </p:spTree>
    <p:extLst>
      <p:ext uri="{BB962C8B-B14F-4D97-AF65-F5344CB8AC3E}">
        <p14:creationId xmlns:p14="http://schemas.microsoft.com/office/powerpoint/2010/main" val="655575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1EDEEB96-EEF2-A041-AEC4-04121E2F9632}" type="slidenum">
              <a:rPr lang="en-US" smtClean="0"/>
              <a:t>‹#›</a:t>
            </a:fld>
            <a:endParaRPr lang="en-US"/>
          </a:p>
        </p:txBody>
      </p:sp>
    </p:spTree>
    <p:extLst>
      <p:ext uri="{BB962C8B-B14F-4D97-AF65-F5344CB8AC3E}">
        <p14:creationId xmlns:p14="http://schemas.microsoft.com/office/powerpoint/2010/main" val="167194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EDEEB96-EEF2-A041-AEC4-04121E2F9632}" type="slidenum">
              <a:rPr lang="en-US" smtClean="0"/>
              <a:t>‹#›</a:t>
            </a:fld>
            <a:endParaRPr lang="en-US"/>
          </a:p>
        </p:txBody>
      </p:sp>
    </p:spTree>
    <p:extLst>
      <p:ext uri="{BB962C8B-B14F-4D97-AF65-F5344CB8AC3E}">
        <p14:creationId xmlns:p14="http://schemas.microsoft.com/office/powerpoint/2010/main" val="635675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1EDEEB96-EEF2-A041-AEC4-04121E2F9632}" type="slidenum">
              <a:rPr lang="en-US" smtClean="0"/>
              <a:t>‹#›</a:t>
            </a:fld>
            <a:endParaRPr lang="en-US"/>
          </a:p>
        </p:txBody>
      </p:sp>
    </p:spTree>
    <p:extLst>
      <p:ext uri="{BB962C8B-B14F-4D97-AF65-F5344CB8AC3E}">
        <p14:creationId xmlns:p14="http://schemas.microsoft.com/office/powerpoint/2010/main" val="6110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1EDEEB96-EEF2-A041-AEC4-04121E2F9632}" type="slidenum">
              <a:rPr lang="en-US" smtClean="0"/>
              <a:t>‹#›</a:t>
            </a:fld>
            <a:endParaRPr lang="en-US"/>
          </a:p>
        </p:txBody>
      </p:sp>
    </p:spTree>
    <p:extLst>
      <p:ext uri="{BB962C8B-B14F-4D97-AF65-F5344CB8AC3E}">
        <p14:creationId xmlns:p14="http://schemas.microsoft.com/office/powerpoint/2010/main" val="447912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1EDEEB96-EEF2-A041-AEC4-04121E2F9632}" type="slidenum">
              <a:rPr lang="en-US" smtClean="0"/>
              <a:t>‹#›</a:t>
            </a:fld>
            <a:endParaRPr lang="en-US"/>
          </a:p>
        </p:txBody>
      </p:sp>
    </p:spTree>
    <p:extLst>
      <p:ext uri="{BB962C8B-B14F-4D97-AF65-F5344CB8AC3E}">
        <p14:creationId xmlns:p14="http://schemas.microsoft.com/office/powerpoint/2010/main" val="1131994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91500"/>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191500"/>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1EDEEB96-EEF2-A041-AEC4-04121E2F9632}" type="slidenum">
              <a:rPr lang="en-US" smtClean="0"/>
              <a:t>‹#›</a:t>
            </a:fld>
            <a:endParaRPr lang="en-US"/>
          </a:p>
        </p:txBody>
      </p:sp>
    </p:spTree>
    <p:extLst>
      <p:ext uri="{BB962C8B-B14F-4D97-AF65-F5344CB8AC3E}">
        <p14:creationId xmlns:p14="http://schemas.microsoft.com/office/powerpoint/2010/main" val="876084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iiitdm.ac.in/"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6108732"/>
            <a:ext cx="12192000" cy="749268"/>
          </a:xfrm>
          <a:prstGeom prst="rect">
            <a:avLst/>
          </a:prstGeom>
          <a:solidFill>
            <a:srgbClr val="214B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6"/>
            <a:ext cx="10515600" cy="94281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511107"/>
            <a:ext cx="10515600" cy="436883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0393047" y="6311899"/>
            <a:ext cx="1500878" cy="365125"/>
          </a:xfrm>
          <a:prstGeom prst="rect">
            <a:avLst/>
          </a:prstGeom>
        </p:spPr>
        <p:txBody>
          <a:bodyPr vert="horz" lIns="91440" tIns="45720" rIns="91440" bIns="45720" rtlCol="0" anchor="ctr"/>
          <a:lstStyle>
            <a:lvl1pPr algn="r">
              <a:defRPr sz="2400">
                <a:solidFill>
                  <a:schemeClr val="bg1"/>
                </a:solidFill>
                <a:latin typeface="Source Sans Pro" charset="0"/>
                <a:ea typeface="Source Sans Pro" charset="0"/>
                <a:cs typeface="Source Sans Pro" charset="0"/>
              </a:defRPr>
            </a:lvl1pPr>
          </a:lstStyle>
          <a:p>
            <a:fld id="{1EDEEB96-EEF2-A041-AEC4-04121E2F9632}" type="slidenum">
              <a:rPr lang="en-US" smtClean="0"/>
              <a:pPr/>
              <a:t>‹#›</a:t>
            </a:fld>
            <a:endParaRPr lang="en-US" dirty="0"/>
          </a:p>
        </p:txBody>
      </p:sp>
      <p:pic>
        <p:nvPicPr>
          <p:cNvPr id="9" name="Picture 8">
            <a:hlinkClick r:id="rId13"/>
            <a:hlinkHover r:id="" action="ppaction://noaction" highlightClick="1"/>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5747" y="6184361"/>
            <a:ext cx="3239999" cy="598010"/>
          </a:xfrm>
          <a:prstGeom prst="rect">
            <a:avLst/>
          </a:prstGeom>
        </p:spPr>
      </p:pic>
      <p:cxnSp>
        <p:nvCxnSpPr>
          <p:cNvPr id="13" name="Straight Connector 12"/>
          <p:cNvCxnSpPr/>
          <p:nvPr userDrawn="1"/>
        </p:nvCxnSpPr>
        <p:spPr>
          <a:xfrm>
            <a:off x="3472405" y="6227180"/>
            <a:ext cx="0" cy="54401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405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600" kern="1200">
          <a:solidFill>
            <a:srgbClr val="214B8C"/>
          </a:solidFill>
          <a:latin typeface="Bookman Old Style" charset="0"/>
          <a:ea typeface="Bookman Old Style" charset="0"/>
          <a:cs typeface="Bookman Old Style"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Source Sans Pro" charset="0"/>
          <a:ea typeface="Source Sans Pro" charset="0"/>
          <a:cs typeface="Source Sans Pro"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Source Sans Pro" charset="0"/>
          <a:ea typeface="Source Sans Pro" charset="0"/>
          <a:cs typeface="Source Sans Pro"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Source Sans Pro" charset="0"/>
          <a:ea typeface="Source Sans Pro" charset="0"/>
          <a:cs typeface="Source Sans Pro"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Source Sans Pro" charset="0"/>
          <a:ea typeface="Source Sans Pro" charset="0"/>
          <a:cs typeface="Source Sans Pro"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Source Sans Pro" charset="0"/>
          <a:ea typeface="Source Sans Pro" charset="0"/>
          <a:cs typeface="Source Sans Pro"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competitions/predicting-bank-telemarketing/dat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jpg"/></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Tele-Call Predictor </a:t>
            </a:r>
            <a:br>
              <a:rPr lang="en-US" dirty="0"/>
            </a:br>
            <a:r>
              <a:rPr lang="en-US" sz="2800" dirty="0"/>
              <a:t>(Predict the success of Bank Telemarketing)</a:t>
            </a:r>
            <a:endParaRPr lang="en-US" dirty="0"/>
          </a:p>
        </p:txBody>
      </p:sp>
      <p:sp>
        <p:nvSpPr>
          <p:cNvPr id="3" name="Subtitle 2"/>
          <p:cNvSpPr>
            <a:spLocks noGrp="1"/>
          </p:cNvSpPr>
          <p:nvPr>
            <p:ph type="subTitle" idx="1"/>
          </p:nvPr>
        </p:nvSpPr>
        <p:spPr/>
        <p:txBody>
          <a:bodyPr/>
          <a:lstStyle/>
          <a:p>
            <a:r>
              <a:rPr lang="en-US" dirty="0"/>
              <a:t>CS3006-Intoduction to Data Science For Engineers(IDSE)</a:t>
            </a:r>
          </a:p>
          <a:p>
            <a:endParaRPr lang="en-US" dirty="0"/>
          </a:p>
          <a:p>
            <a:endParaRPr lang="en-US" dirty="0"/>
          </a:p>
        </p:txBody>
      </p:sp>
      <p:sp>
        <p:nvSpPr>
          <p:cNvPr id="4" name="Text Placeholder 3"/>
          <p:cNvSpPr>
            <a:spLocks noGrp="1"/>
          </p:cNvSpPr>
          <p:nvPr>
            <p:ph type="body" sz="quarter" idx="10"/>
          </p:nvPr>
        </p:nvSpPr>
        <p:spPr/>
        <p:txBody>
          <a:bodyPr/>
          <a:lstStyle/>
          <a:p>
            <a:r>
              <a:rPr lang="en-US" dirty="0"/>
              <a:t>CS22B1093 ROHAN G</a:t>
            </a:r>
          </a:p>
          <a:p>
            <a:r>
              <a:rPr lang="en-US" dirty="0"/>
              <a:t>CS22B1095 R SAI CHARISH</a:t>
            </a:r>
          </a:p>
          <a:p>
            <a:pPr marL="0" indent="0">
              <a:buNone/>
            </a:pPr>
            <a:r>
              <a:rPr lang="en-US" dirty="0"/>
              <a:t>Instructor – PREETH R </a:t>
            </a:r>
          </a:p>
        </p:txBody>
      </p:sp>
    </p:spTree>
    <p:extLst>
      <p:ext uri="{BB962C8B-B14F-4D97-AF65-F5344CB8AC3E}">
        <p14:creationId xmlns:p14="http://schemas.microsoft.com/office/powerpoint/2010/main" val="2126264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5188"/>
            <a:ext cx="10515600" cy="943200"/>
          </a:xfrm>
        </p:spPr>
        <p:txBody>
          <a:bodyPr>
            <a:normAutofit fontScale="90000"/>
          </a:bodyPr>
          <a:lstStyle/>
          <a:p>
            <a:r>
              <a:rPr lang="en-US" dirty="0"/>
              <a:t>EDA - Predict the Success of Bank telemarketing</a:t>
            </a:r>
          </a:p>
        </p:txBody>
      </p:sp>
      <p:sp>
        <p:nvSpPr>
          <p:cNvPr id="3" name="Content Placeholder 2"/>
          <p:cNvSpPr>
            <a:spLocks noGrp="1"/>
          </p:cNvSpPr>
          <p:nvPr>
            <p:ph idx="1"/>
          </p:nvPr>
        </p:nvSpPr>
        <p:spPr>
          <a:xfrm>
            <a:off x="0" y="782426"/>
            <a:ext cx="11353800" cy="5097514"/>
          </a:xfrm>
        </p:spPr>
        <p:txBody>
          <a:bodyPr>
            <a:normAutofit fontScale="92500" lnSpcReduction="10000"/>
          </a:bodyPr>
          <a:lstStyle/>
          <a:p>
            <a:pPr marL="0" indent="0">
              <a:buNone/>
            </a:pPr>
            <a:r>
              <a:rPr lang="en-US" dirty="0"/>
              <a:t>A short intro to EDA:</a:t>
            </a:r>
          </a:p>
          <a:p>
            <a:pPr>
              <a:buFont typeface="Wingdings" panose="05000000000000000000" pitchFamily="2" charset="2"/>
              <a:buChar char="v"/>
            </a:pPr>
            <a:r>
              <a:rPr lang="en-US" sz="1600" b="1" dirty="0"/>
              <a:t>Exploratory Data Analysis</a:t>
            </a:r>
            <a:r>
              <a:rPr lang="en-US" sz="1600" dirty="0"/>
              <a:t> refers to the critical process of performing </a:t>
            </a:r>
            <a:r>
              <a:rPr lang="en-US" sz="1600" b="1" dirty="0"/>
              <a:t>initial investigations on data </a:t>
            </a:r>
            <a:r>
              <a:rPr lang="en-US" sz="1600" dirty="0"/>
              <a:t>so as to discover </a:t>
            </a:r>
            <a:r>
              <a:rPr lang="en-US" sz="1600" b="1" dirty="0"/>
              <a:t>patterns</a:t>
            </a:r>
            <a:r>
              <a:rPr lang="en-US" sz="1600" dirty="0"/>
              <a:t>, to </a:t>
            </a:r>
            <a:r>
              <a:rPr lang="en-US" sz="1600" b="1" dirty="0"/>
              <a:t>spot anomalies</a:t>
            </a:r>
            <a:r>
              <a:rPr lang="en-US" sz="1600" dirty="0"/>
              <a:t>, to </a:t>
            </a:r>
            <a:r>
              <a:rPr lang="en-US" sz="1600" b="1" dirty="0"/>
              <a:t>test hypothesis </a:t>
            </a:r>
            <a:r>
              <a:rPr lang="en-US" sz="1600" dirty="0"/>
              <a:t>and to check assumptions with the help of summary statistics and graphical representations.</a:t>
            </a:r>
          </a:p>
          <a:p>
            <a:pPr>
              <a:buFont typeface="Wingdings" panose="05000000000000000000" pitchFamily="2" charset="2"/>
              <a:buChar char="v"/>
            </a:pPr>
            <a:r>
              <a:rPr lang="en-US" sz="1600" dirty="0"/>
              <a:t>It is a good practice to understand the data first and try to gather as many insights from it.</a:t>
            </a:r>
          </a:p>
          <a:p>
            <a:pPr marL="0" indent="0">
              <a:buNone/>
            </a:pPr>
            <a:endParaRPr lang="en-US" dirty="0"/>
          </a:p>
          <a:p>
            <a:pPr marL="0" indent="0">
              <a:buNone/>
            </a:pPr>
            <a:r>
              <a:rPr lang="en-US" dirty="0"/>
              <a:t>Data Set: </a:t>
            </a:r>
            <a:r>
              <a:rPr lang="en-US" sz="2000" dirty="0">
                <a:hlinkClick r:id="rId2"/>
              </a:rPr>
              <a:t>https://www.kaggle.com/competitions/predicting-bank-telemarketing/data</a:t>
            </a:r>
            <a:endParaRPr lang="en-US" sz="2000" dirty="0"/>
          </a:p>
          <a:p>
            <a:pPr marL="0" indent="0">
              <a:buNone/>
            </a:pPr>
            <a:r>
              <a:rPr lang="en-US" sz="2000" dirty="0"/>
              <a:t>Data Columns:  15 columns + 1 output column(for success prediction)</a:t>
            </a:r>
          </a:p>
          <a:p>
            <a:pPr marL="0" indent="0">
              <a:buNone/>
            </a:pPr>
            <a:r>
              <a:rPr lang="en-US" sz="2000" dirty="0"/>
              <a:t>[</a:t>
            </a:r>
            <a:r>
              <a:rPr lang="en-US" sz="1500" b="1" dirty="0" err="1"/>
              <a:t>cont</a:t>
            </a:r>
            <a:r>
              <a:rPr lang="en-US" sz="1500" b="1" dirty="0"/>
              <a:t> date,age,job,marital,education,default,balance,housing,loan,contact,duration,campaign,pdays,previous,poutcome</a:t>
            </a:r>
            <a:r>
              <a:rPr lang="en-US" sz="1500" dirty="0"/>
              <a:t>]</a:t>
            </a:r>
          </a:p>
          <a:p>
            <a:pPr marL="0" indent="0">
              <a:buNone/>
            </a:pPr>
            <a:endParaRPr lang="en-US" dirty="0"/>
          </a:p>
          <a:p>
            <a:pPr marL="0" indent="0">
              <a:buNone/>
            </a:pPr>
            <a:r>
              <a:rPr lang="en-US" dirty="0"/>
              <a:t>Two Categories of Data:</a:t>
            </a:r>
          </a:p>
          <a:p>
            <a:pPr>
              <a:buFont typeface="Wingdings" panose="05000000000000000000" pitchFamily="2" charset="2"/>
              <a:buChar char="Ø"/>
            </a:pPr>
            <a:r>
              <a:rPr lang="en-US" sz="1800" dirty="0"/>
              <a:t>Structured Data Types</a:t>
            </a:r>
          </a:p>
          <a:p>
            <a:pPr marL="0" indent="0">
              <a:buNone/>
            </a:pPr>
            <a:r>
              <a:rPr lang="en-US" sz="1400" dirty="0"/>
              <a:t>Ex: csv file,  excel file, database file</a:t>
            </a:r>
          </a:p>
          <a:p>
            <a:pPr>
              <a:buFont typeface="Wingdings" panose="05000000000000000000" pitchFamily="2" charset="2"/>
              <a:buChar char="Ø"/>
            </a:pPr>
            <a:r>
              <a:rPr lang="en-US" sz="1800" dirty="0"/>
              <a:t>Unstructured Data Types</a:t>
            </a:r>
          </a:p>
          <a:p>
            <a:pPr marL="0" indent="0">
              <a:buNone/>
            </a:pPr>
            <a:r>
              <a:rPr lang="en-US" sz="1400" dirty="0"/>
              <a:t>Ex: Images, Videos, Audio</a:t>
            </a:r>
          </a:p>
        </p:txBody>
      </p:sp>
      <p:sp>
        <p:nvSpPr>
          <p:cNvPr id="4" name="Slide Number Placeholder 3"/>
          <p:cNvSpPr>
            <a:spLocks noGrp="1"/>
          </p:cNvSpPr>
          <p:nvPr>
            <p:ph type="sldNum" sz="quarter" idx="12"/>
          </p:nvPr>
        </p:nvSpPr>
        <p:spPr/>
        <p:txBody>
          <a:bodyPr/>
          <a:lstStyle/>
          <a:p>
            <a:fld id="{1EDEEB96-EEF2-A041-AEC4-04121E2F9632}" type="slidenum">
              <a:rPr lang="en-US" smtClean="0"/>
              <a:pPr/>
              <a:t>2</a:t>
            </a:fld>
            <a:endParaRPr lang="en-US"/>
          </a:p>
        </p:txBody>
      </p:sp>
    </p:spTree>
    <p:extLst>
      <p:ext uri="{BB962C8B-B14F-4D97-AF65-F5344CB8AC3E}">
        <p14:creationId xmlns:p14="http://schemas.microsoft.com/office/powerpoint/2010/main" val="356975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3EB75-1D31-DE06-A998-00A447EC0E79}"/>
              </a:ext>
            </a:extLst>
          </p:cNvPr>
          <p:cNvSpPr>
            <a:spLocks noGrp="1"/>
          </p:cNvSpPr>
          <p:nvPr>
            <p:ph type="title"/>
          </p:nvPr>
        </p:nvSpPr>
        <p:spPr>
          <a:xfrm>
            <a:off x="0" y="-122682"/>
            <a:ext cx="10515600" cy="942814"/>
          </a:xfrm>
        </p:spPr>
        <p:txBody>
          <a:bodyPr/>
          <a:lstStyle/>
          <a:p>
            <a:r>
              <a:rPr lang="en-US" dirty="0"/>
              <a:t>Description of Columns of the dataset</a:t>
            </a:r>
            <a:endParaRPr lang="en-IN" dirty="0"/>
          </a:p>
        </p:txBody>
      </p:sp>
      <p:sp>
        <p:nvSpPr>
          <p:cNvPr id="5" name="Slide Number Placeholder 4">
            <a:extLst>
              <a:ext uri="{FF2B5EF4-FFF2-40B4-BE49-F238E27FC236}">
                <a16:creationId xmlns:a16="http://schemas.microsoft.com/office/drawing/2014/main" id="{2244F2D4-D21F-66A5-97C7-CC14C4915E10}"/>
              </a:ext>
            </a:extLst>
          </p:cNvPr>
          <p:cNvSpPr>
            <a:spLocks noGrp="1"/>
          </p:cNvSpPr>
          <p:nvPr>
            <p:ph type="sldNum" sz="quarter" idx="11"/>
          </p:nvPr>
        </p:nvSpPr>
        <p:spPr/>
        <p:txBody>
          <a:bodyPr/>
          <a:lstStyle/>
          <a:p>
            <a:fld id="{1EDEEB96-EEF2-A041-AEC4-04121E2F9632}" type="slidenum">
              <a:rPr lang="en-US" smtClean="0"/>
              <a:t>3</a:t>
            </a:fld>
            <a:endParaRPr lang="en-US" dirty="0"/>
          </a:p>
        </p:txBody>
      </p:sp>
      <p:sp>
        <p:nvSpPr>
          <p:cNvPr id="6" name="TextBox 5">
            <a:extLst>
              <a:ext uri="{FF2B5EF4-FFF2-40B4-BE49-F238E27FC236}">
                <a16:creationId xmlns:a16="http://schemas.microsoft.com/office/drawing/2014/main" id="{6F460AF2-DF2B-43A5-740E-1FEE8D74E6A1}"/>
              </a:ext>
            </a:extLst>
          </p:cNvPr>
          <p:cNvSpPr txBox="1"/>
          <p:nvPr/>
        </p:nvSpPr>
        <p:spPr>
          <a:xfrm>
            <a:off x="150829" y="820132"/>
            <a:ext cx="11109489" cy="4862870"/>
          </a:xfrm>
          <a:prstGeom prst="rect">
            <a:avLst/>
          </a:prstGeom>
          <a:noFill/>
        </p:spPr>
        <p:txBody>
          <a:bodyPr wrap="square" rtlCol="0">
            <a:spAutoFit/>
          </a:bodyPr>
          <a:lstStyle/>
          <a:p>
            <a:r>
              <a:rPr lang="en-US" dirty="0"/>
              <a:t>The dataset contains </a:t>
            </a:r>
            <a:r>
              <a:rPr lang="en-US" b="1" dirty="0"/>
              <a:t>39,211 entries and 16 columns</a:t>
            </a:r>
            <a:r>
              <a:rPr lang="en-US" dirty="0"/>
              <a:t>, with information about individuals and their interactions with a bank's marketing campaign. Here’s a brief overview of each column:</a:t>
            </a:r>
          </a:p>
          <a:p>
            <a:endParaRPr lang="en-US" dirty="0"/>
          </a:p>
          <a:p>
            <a:pPr marL="285750" indent="-285750">
              <a:buFont typeface="Wingdings" panose="05000000000000000000" pitchFamily="2" charset="2"/>
              <a:buChar char="Ø"/>
            </a:pPr>
            <a:r>
              <a:rPr lang="en-US" sz="1600" b="1" dirty="0"/>
              <a:t>last contact date:  </a:t>
            </a:r>
            <a:r>
              <a:rPr lang="en-US" sz="1600" dirty="0"/>
              <a:t>The date of the last contact with the individual.</a:t>
            </a:r>
          </a:p>
          <a:p>
            <a:pPr marL="285750" indent="-285750">
              <a:buFont typeface="Wingdings" panose="05000000000000000000" pitchFamily="2" charset="2"/>
              <a:buChar char="Ø"/>
            </a:pPr>
            <a:r>
              <a:rPr lang="en-US" sz="1600" b="1" dirty="0"/>
              <a:t>age:  </a:t>
            </a:r>
            <a:r>
              <a:rPr lang="en-US" sz="1600" dirty="0"/>
              <a:t>Age of the individual (ranging from 18 to 95).</a:t>
            </a:r>
          </a:p>
          <a:p>
            <a:pPr marL="285750" indent="-285750">
              <a:buFont typeface="Wingdings" panose="05000000000000000000" pitchFamily="2" charset="2"/>
              <a:buChar char="Ø"/>
            </a:pPr>
            <a:r>
              <a:rPr lang="en-US" sz="1600" b="1" dirty="0"/>
              <a:t>job:  </a:t>
            </a:r>
            <a:r>
              <a:rPr lang="en-US" sz="1600" dirty="0"/>
              <a:t>Occupation; has some missing values.</a:t>
            </a:r>
          </a:p>
          <a:p>
            <a:pPr marL="285750" indent="-285750">
              <a:buFont typeface="Wingdings" panose="05000000000000000000" pitchFamily="2" charset="2"/>
              <a:buChar char="Ø"/>
            </a:pPr>
            <a:r>
              <a:rPr lang="en-US" sz="1600" b="1" dirty="0"/>
              <a:t>marital:  </a:t>
            </a:r>
            <a:r>
              <a:rPr lang="en-US" sz="1600" dirty="0"/>
              <a:t>Marital status (e.g., married, single).</a:t>
            </a:r>
          </a:p>
          <a:p>
            <a:pPr marL="285750" indent="-285750">
              <a:buFont typeface="Wingdings" panose="05000000000000000000" pitchFamily="2" charset="2"/>
              <a:buChar char="Ø"/>
            </a:pPr>
            <a:r>
              <a:rPr lang="en-US" sz="1600" b="1" dirty="0"/>
              <a:t>education: </a:t>
            </a:r>
            <a:r>
              <a:rPr lang="en-US" sz="1600" dirty="0"/>
              <a:t>Education level, with some missing values.</a:t>
            </a:r>
          </a:p>
          <a:p>
            <a:pPr marL="285750" indent="-285750">
              <a:buFont typeface="Wingdings" panose="05000000000000000000" pitchFamily="2" charset="2"/>
              <a:buChar char="Ø"/>
            </a:pPr>
            <a:r>
              <a:rPr lang="en-US" sz="1600" b="1" dirty="0"/>
              <a:t>default: </a:t>
            </a:r>
            <a:r>
              <a:rPr lang="en-US" sz="1600" dirty="0"/>
              <a:t>Whether the individual has credit in default.</a:t>
            </a:r>
          </a:p>
          <a:p>
            <a:pPr marL="285750" indent="-285750">
              <a:buFont typeface="Wingdings" panose="05000000000000000000" pitchFamily="2" charset="2"/>
              <a:buChar char="Ø"/>
            </a:pPr>
            <a:r>
              <a:rPr lang="en-US" sz="1600" b="1" dirty="0"/>
              <a:t>balance: </a:t>
            </a:r>
            <a:r>
              <a:rPr lang="en-US" sz="1600" dirty="0"/>
              <a:t>Account balance, ranging from negative values to over 100,000.</a:t>
            </a:r>
          </a:p>
          <a:p>
            <a:pPr marL="285750" indent="-285750">
              <a:buFont typeface="Wingdings" panose="05000000000000000000" pitchFamily="2" charset="2"/>
              <a:buChar char="Ø"/>
            </a:pPr>
            <a:r>
              <a:rPr lang="en-US" sz="1600" b="1" dirty="0"/>
              <a:t>housing: </a:t>
            </a:r>
            <a:r>
              <a:rPr lang="en-US" sz="1600" dirty="0"/>
              <a:t>Whether the individual has a housing loan.</a:t>
            </a:r>
          </a:p>
          <a:p>
            <a:pPr marL="285750" indent="-285750">
              <a:buFont typeface="Wingdings" panose="05000000000000000000" pitchFamily="2" charset="2"/>
              <a:buChar char="Ø"/>
            </a:pPr>
            <a:r>
              <a:rPr lang="en-US" sz="1600" b="1" dirty="0"/>
              <a:t>loan: </a:t>
            </a:r>
            <a:r>
              <a:rPr lang="en-US" sz="1600" dirty="0"/>
              <a:t>Whether the individual has a personal loan.</a:t>
            </a:r>
          </a:p>
          <a:p>
            <a:pPr marL="285750" indent="-285750">
              <a:buFont typeface="Wingdings" panose="05000000000000000000" pitchFamily="2" charset="2"/>
              <a:buChar char="Ø"/>
            </a:pPr>
            <a:r>
              <a:rPr lang="en-US" sz="1600" b="1" dirty="0"/>
              <a:t>contact: </a:t>
            </a:r>
            <a:r>
              <a:rPr lang="en-US" sz="1600" dirty="0"/>
              <a:t>Type of contact communication, missing in some cases.</a:t>
            </a:r>
          </a:p>
          <a:p>
            <a:pPr marL="285750" indent="-285750">
              <a:buFont typeface="Wingdings" panose="05000000000000000000" pitchFamily="2" charset="2"/>
              <a:buChar char="Ø"/>
            </a:pPr>
            <a:r>
              <a:rPr lang="en-US" sz="1600" b="1" dirty="0"/>
              <a:t>duration: </a:t>
            </a:r>
            <a:r>
              <a:rPr lang="en-US" sz="1600" dirty="0"/>
              <a:t>Duration of the last contact (in seconds), with some instances of zero values.</a:t>
            </a:r>
          </a:p>
          <a:p>
            <a:pPr marL="285750" indent="-285750">
              <a:buFont typeface="Wingdings" panose="05000000000000000000" pitchFamily="2" charset="2"/>
              <a:buChar char="Ø"/>
            </a:pPr>
            <a:r>
              <a:rPr lang="en-US" sz="1600" b="1" dirty="0"/>
              <a:t>campaign: </a:t>
            </a:r>
            <a:r>
              <a:rPr lang="en-US" sz="1600" dirty="0"/>
              <a:t>Number of contacts during the campaign.</a:t>
            </a:r>
          </a:p>
          <a:p>
            <a:pPr marL="285750" indent="-285750">
              <a:buFont typeface="Wingdings" panose="05000000000000000000" pitchFamily="2" charset="2"/>
              <a:buChar char="Ø"/>
            </a:pPr>
            <a:r>
              <a:rPr lang="en-US" sz="1600" b="1" dirty="0" err="1"/>
              <a:t>pdays</a:t>
            </a:r>
            <a:r>
              <a:rPr lang="en-US" sz="1600" b="1" dirty="0"/>
              <a:t>: </a:t>
            </a:r>
            <a:r>
              <a:rPr lang="en-US" sz="1600" dirty="0"/>
              <a:t>Days since the individual was last contacted (or -1 if never contacted).</a:t>
            </a:r>
          </a:p>
          <a:p>
            <a:pPr marL="285750" indent="-285750">
              <a:buFont typeface="Wingdings" panose="05000000000000000000" pitchFamily="2" charset="2"/>
              <a:buChar char="Ø"/>
            </a:pPr>
            <a:r>
              <a:rPr lang="en-US" sz="1600" b="1" dirty="0"/>
              <a:t>previous: </a:t>
            </a:r>
            <a:r>
              <a:rPr lang="en-US" sz="1600" dirty="0"/>
              <a:t>Number of contacts before the campaign.</a:t>
            </a:r>
          </a:p>
          <a:p>
            <a:pPr marL="285750" indent="-285750">
              <a:buFont typeface="Wingdings" panose="05000000000000000000" pitchFamily="2" charset="2"/>
              <a:buChar char="Ø"/>
            </a:pPr>
            <a:r>
              <a:rPr lang="en-US" sz="1600" b="1" dirty="0" err="1"/>
              <a:t>poutcome</a:t>
            </a:r>
            <a:r>
              <a:rPr lang="en-US" sz="1600" b="1" dirty="0"/>
              <a:t>: </a:t>
            </a:r>
            <a:r>
              <a:rPr lang="en-US" sz="1600" dirty="0"/>
              <a:t>Outcome of the previous marketing campaign (many missing values).</a:t>
            </a:r>
          </a:p>
          <a:p>
            <a:pPr marL="285750" indent="-285750">
              <a:buFont typeface="Wingdings" panose="05000000000000000000" pitchFamily="2" charset="2"/>
              <a:buChar char="Ø"/>
            </a:pPr>
            <a:r>
              <a:rPr lang="en-US" sz="1600" b="1" dirty="0"/>
              <a:t>target: </a:t>
            </a:r>
            <a:r>
              <a:rPr lang="en-US" sz="1600" dirty="0"/>
              <a:t>Target variable, indicating the success of the campaign ("yes" or "no").</a:t>
            </a:r>
            <a:endParaRPr lang="en-IN" sz="1600" dirty="0"/>
          </a:p>
        </p:txBody>
      </p:sp>
    </p:spTree>
    <p:extLst>
      <p:ext uri="{BB962C8B-B14F-4D97-AF65-F5344CB8AC3E}">
        <p14:creationId xmlns:p14="http://schemas.microsoft.com/office/powerpoint/2010/main" val="1086657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83683-DEAC-B8CF-D4AF-DAFDFA4EBBDA}"/>
              </a:ext>
            </a:extLst>
          </p:cNvPr>
          <p:cNvSpPr>
            <a:spLocks noGrp="1"/>
          </p:cNvSpPr>
          <p:nvPr>
            <p:ph type="title"/>
          </p:nvPr>
        </p:nvSpPr>
        <p:spPr>
          <a:xfrm>
            <a:off x="0" y="-2519"/>
            <a:ext cx="10515600" cy="943200"/>
          </a:xfrm>
        </p:spPr>
        <p:txBody>
          <a:bodyPr/>
          <a:lstStyle/>
          <a:p>
            <a:r>
              <a:rPr lang="en-IN" dirty="0"/>
              <a:t>Structured Data Types</a:t>
            </a:r>
          </a:p>
        </p:txBody>
      </p:sp>
      <p:sp>
        <p:nvSpPr>
          <p:cNvPr id="3" name="Content Placeholder 2">
            <a:extLst>
              <a:ext uri="{FF2B5EF4-FFF2-40B4-BE49-F238E27FC236}">
                <a16:creationId xmlns:a16="http://schemas.microsoft.com/office/drawing/2014/main" id="{180D3985-DB3C-E2EC-E460-275872407B21}"/>
              </a:ext>
            </a:extLst>
          </p:cNvPr>
          <p:cNvSpPr>
            <a:spLocks noGrp="1"/>
          </p:cNvSpPr>
          <p:nvPr>
            <p:ph idx="1"/>
          </p:nvPr>
        </p:nvSpPr>
        <p:spPr>
          <a:xfrm>
            <a:off x="0" y="791852"/>
            <a:ext cx="11353800" cy="5088087"/>
          </a:xfrm>
        </p:spPr>
        <p:txBody>
          <a:bodyPr/>
          <a:lstStyle/>
          <a:p>
            <a:r>
              <a:rPr lang="en-IN" b="1" dirty="0"/>
              <a:t>Categorical – </a:t>
            </a:r>
            <a:r>
              <a:rPr lang="en-IN" dirty="0"/>
              <a:t>This is any data that isn’t a number.</a:t>
            </a:r>
          </a:p>
          <a:p>
            <a:pPr>
              <a:buFont typeface="Wingdings" panose="05000000000000000000" pitchFamily="2" charset="2"/>
              <a:buChar char="Ø"/>
            </a:pPr>
            <a:r>
              <a:rPr lang="en-IN" sz="2400" dirty="0"/>
              <a:t>Ordinal- have set of order [ex: education(Primary, Secondary, tertiary)]</a:t>
            </a:r>
          </a:p>
          <a:p>
            <a:pPr>
              <a:buFont typeface="Wingdings" panose="05000000000000000000" pitchFamily="2" charset="2"/>
              <a:buChar char="Ø"/>
            </a:pPr>
            <a:r>
              <a:rPr lang="en-IN" sz="2400" dirty="0"/>
              <a:t>Binary – have only two values [ex: default, housing, loan(yes/no responses)]</a:t>
            </a:r>
          </a:p>
          <a:p>
            <a:pPr>
              <a:buFont typeface="Wingdings" panose="05000000000000000000" pitchFamily="2" charset="2"/>
              <a:buChar char="Ø"/>
            </a:pPr>
            <a:r>
              <a:rPr lang="en-IN" sz="2400" dirty="0"/>
              <a:t>Nominal – no set of order  [ex: job, martial, contact, </a:t>
            </a:r>
            <a:r>
              <a:rPr lang="en-IN" sz="2400" dirty="0" err="1"/>
              <a:t>poutcome</a:t>
            </a:r>
            <a:r>
              <a:rPr lang="en-IN" sz="2400" dirty="0"/>
              <a:t>]</a:t>
            </a:r>
          </a:p>
          <a:p>
            <a:pPr marL="0" indent="0">
              <a:buNone/>
            </a:pPr>
            <a:endParaRPr lang="en-IN" sz="2400" dirty="0"/>
          </a:p>
          <a:p>
            <a:pPr marL="0" indent="0">
              <a:buNone/>
            </a:pPr>
            <a:endParaRPr lang="en-IN" sz="2400" dirty="0"/>
          </a:p>
          <a:p>
            <a:pPr>
              <a:buFont typeface="Arial" panose="020B0604020202020204" pitchFamily="34" charset="0"/>
              <a:buChar char="•"/>
            </a:pPr>
            <a:r>
              <a:rPr lang="en-IN" b="1" dirty="0"/>
              <a:t>Numerical –</a:t>
            </a:r>
            <a:r>
              <a:rPr lang="en-IN" dirty="0"/>
              <a:t> Data inform of numbers </a:t>
            </a:r>
          </a:p>
          <a:p>
            <a:pPr>
              <a:buFont typeface="Wingdings" panose="05000000000000000000" pitchFamily="2" charset="2"/>
              <a:buChar char="Ø"/>
            </a:pPr>
            <a:r>
              <a:rPr lang="en-IN" sz="2400" dirty="0"/>
              <a:t>Continuous – numbers that don’t  have a logical end to them </a:t>
            </a:r>
          </a:p>
          <a:p>
            <a:pPr>
              <a:buFont typeface="Wingdings" panose="05000000000000000000" pitchFamily="2" charset="2"/>
              <a:buChar char="Ø"/>
            </a:pPr>
            <a:r>
              <a:rPr lang="en-IN" sz="2400" dirty="0"/>
              <a:t>Discrete – have a logical end to them [ex: age, balance, duration, campaign, </a:t>
            </a:r>
            <a:r>
              <a:rPr lang="en-IN" sz="2400" dirty="0" err="1"/>
              <a:t>pdays</a:t>
            </a:r>
            <a:r>
              <a:rPr lang="en-IN" sz="2400" dirty="0"/>
              <a:t>, previous]</a:t>
            </a:r>
          </a:p>
        </p:txBody>
      </p:sp>
      <p:sp>
        <p:nvSpPr>
          <p:cNvPr id="4" name="Slide Number Placeholder 3">
            <a:extLst>
              <a:ext uri="{FF2B5EF4-FFF2-40B4-BE49-F238E27FC236}">
                <a16:creationId xmlns:a16="http://schemas.microsoft.com/office/drawing/2014/main" id="{ED2BF91F-3176-2B4D-1412-3AA18FD43B0B}"/>
              </a:ext>
            </a:extLst>
          </p:cNvPr>
          <p:cNvSpPr>
            <a:spLocks noGrp="1"/>
          </p:cNvSpPr>
          <p:nvPr>
            <p:ph type="sldNum" sz="quarter" idx="12"/>
          </p:nvPr>
        </p:nvSpPr>
        <p:spPr/>
        <p:txBody>
          <a:bodyPr/>
          <a:lstStyle/>
          <a:p>
            <a:fld id="{1EDEEB96-EEF2-A041-AEC4-04121E2F9632}" type="slidenum">
              <a:rPr lang="en-US" smtClean="0"/>
              <a:pPr/>
              <a:t>4</a:t>
            </a:fld>
            <a:endParaRPr lang="en-US"/>
          </a:p>
        </p:txBody>
      </p:sp>
    </p:spTree>
    <p:extLst>
      <p:ext uri="{BB962C8B-B14F-4D97-AF65-F5344CB8AC3E}">
        <p14:creationId xmlns:p14="http://schemas.microsoft.com/office/powerpoint/2010/main" val="1584950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063BC-5171-454C-0142-94D7C30813E5}"/>
              </a:ext>
            </a:extLst>
          </p:cNvPr>
          <p:cNvSpPr>
            <a:spLocks noGrp="1"/>
          </p:cNvSpPr>
          <p:nvPr>
            <p:ph type="title"/>
          </p:nvPr>
        </p:nvSpPr>
        <p:spPr/>
        <p:txBody>
          <a:bodyPr>
            <a:normAutofit fontScale="90000"/>
          </a:bodyPr>
          <a:lstStyle/>
          <a:p>
            <a:r>
              <a:rPr lang="en-US" dirty="0"/>
              <a:t>EDA - Predict the Success of Bank telemarketing</a:t>
            </a:r>
            <a:endParaRPr lang="en-IN" dirty="0"/>
          </a:p>
        </p:txBody>
      </p:sp>
      <p:pic>
        <p:nvPicPr>
          <p:cNvPr id="7" name="Content Placeholder 6">
            <a:extLst>
              <a:ext uri="{FF2B5EF4-FFF2-40B4-BE49-F238E27FC236}">
                <a16:creationId xmlns:a16="http://schemas.microsoft.com/office/drawing/2014/main" id="{A97A6E0C-573E-93AA-D2B4-0969EC27BFB2}"/>
              </a:ext>
            </a:extLst>
          </p:cNvPr>
          <p:cNvPicPr>
            <a:picLocks noGrp="1" noChangeAspect="1"/>
          </p:cNvPicPr>
          <p:nvPr>
            <p:ph sz="half" idx="1"/>
          </p:nvPr>
        </p:nvPicPr>
        <p:blipFill>
          <a:blip r:embed="rId2"/>
          <a:stretch>
            <a:fillRect/>
          </a:stretch>
        </p:blipFill>
        <p:spPr>
          <a:xfrm>
            <a:off x="75413" y="1997086"/>
            <a:ext cx="3857041" cy="3353243"/>
          </a:xfrm>
        </p:spPr>
      </p:pic>
      <p:pic>
        <p:nvPicPr>
          <p:cNvPr id="11" name="Content Placeholder 10">
            <a:extLst>
              <a:ext uri="{FF2B5EF4-FFF2-40B4-BE49-F238E27FC236}">
                <a16:creationId xmlns:a16="http://schemas.microsoft.com/office/drawing/2014/main" id="{6BAB0656-2FFC-F104-1B18-B69F7FF4D6D4}"/>
              </a:ext>
            </a:extLst>
          </p:cNvPr>
          <p:cNvPicPr>
            <a:picLocks noGrp="1" noChangeAspect="1"/>
          </p:cNvPicPr>
          <p:nvPr>
            <p:ph sz="half" idx="2"/>
          </p:nvPr>
        </p:nvPicPr>
        <p:blipFill>
          <a:blip r:embed="rId3"/>
          <a:stretch>
            <a:fillRect/>
          </a:stretch>
        </p:blipFill>
        <p:spPr>
          <a:xfrm>
            <a:off x="4073856" y="1997086"/>
            <a:ext cx="4589377" cy="3864019"/>
          </a:xfrm>
        </p:spPr>
      </p:pic>
      <p:sp>
        <p:nvSpPr>
          <p:cNvPr id="5" name="Slide Number Placeholder 4">
            <a:extLst>
              <a:ext uri="{FF2B5EF4-FFF2-40B4-BE49-F238E27FC236}">
                <a16:creationId xmlns:a16="http://schemas.microsoft.com/office/drawing/2014/main" id="{B80D1970-DE50-CEC6-9D84-D780BF09E06E}"/>
              </a:ext>
            </a:extLst>
          </p:cNvPr>
          <p:cNvSpPr>
            <a:spLocks noGrp="1"/>
          </p:cNvSpPr>
          <p:nvPr>
            <p:ph type="sldNum" sz="quarter" idx="11"/>
          </p:nvPr>
        </p:nvSpPr>
        <p:spPr/>
        <p:txBody>
          <a:bodyPr/>
          <a:lstStyle/>
          <a:p>
            <a:fld id="{1EDEEB96-EEF2-A041-AEC4-04121E2F9632}" type="slidenum">
              <a:rPr lang="en-US" smtClean="0"/>
              <a:t>5</a:t>
            </a:fld>
            <a:endParaRPr lang="en-US" dirty="0"/>
          </a:p>
        </p:txBody>
      </p:sp>
      <p:sp>
        <p:nvSpPr>
          <p:cNvPr id="8" name="TextBox 7">
            <a:extLst>
              <a:ext uri="{FF2B5EF4-FFF2-40B4-BE49-F238E27FC236}">
                <a16:creationId xmlns:a16="http://schemas.microsoft.com/office/drawing/2014/main" id="{BE7F7E8F-FF52-09A2-4433-E2BBF4A41F88}"/>
              </a:ext>
            </a:extLst>
          </p:cNvPr>
          <p:cNvSpPr txBox="1"/>
          <p:nvPr/>
        </p:nvSpPr>
        <p:spPr>
          <a:xfrm>
            <a:off x="75413" y="1054272"/>
            <a:ext cx="2780909" cy="369332"/>
          </a:xfrm>
          <a:prstGeom prst="rect">
            <a:avLst/>
          </a:prstGeom>
          <a:noFill/>
        </p:spPr>
        <p:txBody>
          <a:bodyPr wrap="square" rtlCol="0">
            <a:spAutoFit/>
          </a:bodyPr>
          <a:lstStyle/>
          <a:p>
            <a:r>
              <a:rPr lang="en-US" dirty="0"/>
              <a:t>Data Cleaning</a:t>
            </a:r>
            <a:endParaRPr lang="en-IN" dirty="0"/>
          </a:p>
        </p:txBody>
      </p:sp>
      <p:pic>
        <p:nvPicPr>
          <p:cNvPr id="15" name="Picture 14">
            <a:extLst>
              <a:ext uri="{FF2B5EF4-FFF2-40B4-BE49-F238E27FC236}">
                <a16:creationId xmlns:a16="http://schemas.microsoft.com/office/drawing/2014/main" id="{8EE0476B-2FBB-5F04-2D53-13DA24AF2FF1}"/>
              </a:ext>
            </a:extLst>
          </p:cNvPr>
          <p:cNvPicPr>
            <a:picLocks noChangeAspect="1"/>
          </p:cNvPicPr>
          <p:nvPr/>
        </p:nvPicPr>
        <p:blipFill>
          <a:blip r:embed="rId4"/>
          <a:stretch>
            <a:fillRect/>
          </a:stretch>
        </p:blipFill>
        <p:spPr>
          <a:xfrm>
            <a:off x="8757325" y="1997086"/>
            <a:ext cx="3271444" cy="513060"/>
          </a:xfrm>
          <a:prstGeom prst="rect">
            <a:avLst/>
          </a:prstGeom>
        </p:spPr>
      </p:pic>
      <p:sp>
        <p:nvSpPr>
          <p:cNvPr id="16" name="TextBox 15">
            <a:extLst>
              <a:ext uri="{FF2B5EF4-FFF2-40B4-BE49-F238E27FC236}">
                <a16:creationId xmlns:a16="http://schemas.microsoft.com/office/drawing/2014/main" id="{E551DBEB-F550-3EC8-A9DD-6528DE04947B}"/>
              </a:ext>
            </a:extLst>
          </p:cNvPr>
          <p:cNvSpPr txBox="1"/>
          <p:nvPr/>
        </p:nvSpPr>
        <p:spPr>
          <a:xfrm>
            <a:off x="75413" y="1423604"/>
            <a:ext cx="3478492" cy="553998"/>
          </a:xfrm>
          <a:prstGeom prst="rect">
            <a:avLst/>
          </a:prstGeom>
          <a:noFill/>
        </p:spPr>
        <p:txBody>
          <a:bodyPr wrap="square" rtlCol="0">
            <a:spAutoFit/>
          </a:bodyPr>
          <a:lstStyle/>
          <a:p>
            <a:pPr marL="285750" indent="-285750" algn="ctr">
              <a:buFont typeface="Wingdings" panose="05000000000000000000" pitchFamily="2" charset="2"/>
              <a:buChar char="§"/>
            </a:pPr>
            <a:r>
              <a:rPr lang="en-US" sz="1500" dirty="0"/>
              <a:t>Finding out  the NULL Values in the columns  of the dataset</a:t>
            </a:r>
            <a:endParaRPr lang="en-IN" sz="1500" dirty="0"/>
          </a:p>
        </p:txBody>
      </p:sp>
      <p:sp>
        <p:nvSpPr>
          <p:cNvPr id="17" name="TextBox 16">
            <a:extLst>
              <a:ext uri="{FF2B5EF4-FFF2-40B4-BE49-F238E27FC236}">
                <a16:creationId xmlns:a16="http://schemas.microsoft.com/office/drawing/2014/main" id="{D587334D-A20E-303E-6E4A-D617FDC08FFC}"/>
              </a:ext>
            </a:extLst>
          </p:cNvPr>
          <p:cNvSpPr txBox="1"/>
          <p:nvPr/>
        </p:nvSpPr>
        <p:spPr>
          <a:xfrm>
            <a:off x="4356754" y="1375514"/>
            <a:ext cx="3478492" cy="553998"/>
          </a:xfrm>
          <a:prstGeom prst="rect">
            <a:avLst/>
          </a:prstGeom>
          <a:noFill/>
        </p:spPr>
        <p:txBody>
          <a:bodyPr wrap="square" rtlCol="0">
            <a:spAutoFit/>
          </a:bodyPr>
          <a:lstStyle/>
          <a:p>
            <a:pPr marL="285750" indent="-285750" algn="ctr">
              <a:buFont typeface="Wingdings" panose="05000000000000000000" pitchFamily="2" charset="2"/>
              <a:buChar char="§"/>
            </a:pPr>
            <a:r>
              <a:rPr lang="en-US" sz="1500" dirty="0"/>
              <a:t>Plotting the NULL Values of columns using HEATMAP</a:t>
            </a:r>
            <a:endParaRPr lang="en-IN" sz="1500" dirty="0"/>
          </a:p>
        </p:txBody>
      </p:sp>
      <p:sp>
        <p:nvSpPr>
          <p:cNvPr id="18" name="TextBox 17">
            <a:extLst>
              <a:ext uri="{FF2B5EF4-FFF2-40B4-BE49-F238E27FC236}">
                <a16:creationId xmlns:a16="http://schemas.microsoft.com/office/drawing/2014/main" id="{40F51778-0EB0-BD11-F5BB-CDE483BA352B}"/>
              </a:ext>
            </a:extLst>
          </p:cNvPr>
          <p:cNvSpPr txBox="1"/>
          <p:nvPr/>
        </p:nvSpPr>
        <p:spPr>
          <a:xfrm>
            <a:off x="8550277" y="1359359"/>
            <a:ext cx="3478492" cy="553998"/>
          </a:xfrm>
          <a:prstGeom prst="rect">
            <a:avLst/>
          </a:prstGeom>
          <a:noFill/>
        </p:spPr>
        <p:txBody>
          <a:bodyPr wrap="square" rtlCol="0">
            <a:spAutoFit/>
          </a:bodyPr>
          <a:lstStyle/>
          <a:p>
            <a:pPr marL="285750" indent="-285750" algn="ctr">
              <a:buFont typeface="Wingdings" panose="05000000000000000000" pitchFamily="2" charset="2"/>
              <a:buChar char="§"/>
            </a:pPr>
            <a:r>
              <a:rPr lang="en-US" sz="1500" dirty="0"/>
              <a:t>Replacing the NULL Values with “UNKNOWN”</a:t>
            </a:r>
            <a:endParaRPr lang="en-IN" sz="1500" dirty="0"/>
          </a:p>
        </p:txBody>
      </p:sp>
      <p:sp>
        <p:nvSpPr>
          <p:cNvPr id="19" name="TextBox 18">
            <a:extLst>
              <a:ext uri="{FF2B5EF4-FFF2-40B4-BE49-F238E27FC236}">
                <a16:creationId xmlns:a16="http://schemas.microsoft.com/office/drawing/2014/main" id="{30831D9E-3A06-6455-3485-EB5A97BDA877}"/>
              </a:ext>
            </a:extLst>
          </p:cNvPr>
          <p:cNvSpPr txBox="1"/>
          <p:nvPr/>
        </p:nvSpPr>
        <p:spPr>
          <a:xfrm>
            <a:off x="8757325" y="2593875"/>
            <a:ext cx="3271444" cy="1569660"/>
          </a:xfrm>
          <a:prstGeom prst="rect">
            <a:avLst/>
          </a:prstGeom>
          <a:noFill/>
        </p:spPr>
        <p:txBody>
          <a:bodyPr wrap="square" rtlCol="0">
            <a:spAutoFit/>
          </a:bodyPr>
          <a:lstStyle/>
          <a:p>
            <a:r>
              <a:rPr lang="en-US" sz="1600" dirty="0"/>
              <a:t>The above dataset has :</a:t>
            </a:r>
          </a:p>
          <a:p>
            <a:r>
              <a:rPr lang="en-US" sz="1600" dirty="0"/>
              <a:t>NULL values in these following columns and the number of NULL values  that are present in the dataset are given below.</a:t>
            </a:r>
          </a:p>
          <a:p>
            <a:endParaRPr lang="en-US" sz="1600" dirty="0"/>
          </a:p>
        </p:txBody>
      </p:sp>
      <p:graphicFrame>
        <p:nvGraphicFramePr>
          <p:cNvPr id="21" name="Table 20">
            <a:extLst>
              <a:ext uri="{FF2B5EF4-FFF2-40B4-BE49-F238E27FC236}">
                <a16:creationId xmlns:a16="http://schemas.microsoft.com/office/drawing/2014/main" id="{22CCAA03-53A0-B9A1-C6F5-559215DB0BD9}"/>
              </a:ext>
            </a:extLst>
          </p:cNvPr>
          <p:cNvGraphicFramePr>
            <a:graphicFrameLocks noGrp="1"/>
          </p:cNvGraphicFramePr>
          <p:nvPr>
            <p:extLst>
              <p:ext uri="{D42A27DB-BD31-4B8C-83A1-F6EECF244321}">
                <p14:modId xmlns:p14="http://schemas.microsoft.com/office/powerpoint/2010/main" val="105590181"/>
              </p:ext>
            </p:extLst>
          </p:nvPr>
        </p:nvGraphicFramePr>
        <p:xfrm>
          <a:off x="9012019" y="3927863"/>
          <a:ext cx="2762056" cy="2103120"/>
        </p:xfrm>
        <a:graphic>
          <a:graphicData uri="http://schemas.openxmlformats.org/drawingml/2006/table">
            <a:tbl>
              <a:tblPr firstRow="1" bandRow="1">
                <a:tableStyleId>{5C22544A-7EE6-4342-B048-85BDC9FD1C3A}</a:tableStyleId>
              </a:tblPr>
              <a:tblGrid>
                <a:gridCol w="1381028">
                  <a:extLst>
                    <a:ext uri="{9D8B030D-6E8A-4147-A177-3AD203B41FA5}">
                      <a16:colId xmlns:a16="http://schemas.microsoft.com/office/drawing/2014/main" val="3728570531"/>
                    </a:ext>
                  </a:extLst>
                </a:gridCol>
                <a:gridCol w="1381028">
                  <a:extLst>
                    <a:ext uri="{9D8B030D-6E8A-4147-A177-3AD203B41FA5}">
                      <a16:colId xmlns:a16="http://schemas.microsoft.com/office/drawing/2014/main" val="3081958234"/>
                    </a:ext>
                  </a:extLst>
                </a:gridCol>
              </a:tblGrid>
              <a:tr h="443933">
                <a:tc>
                  <a:txBody>
                    <a:bodyPr/>
                    <a:lstStyle/>
                    <a:p>
                      <a:pPr algn="ctr"/>
                      <a:r>
                        <a:rPr lang="en-US" b="1" dirty="0"/>
                        <a:t>Columns</a:t>
                      </a:r>
                      <a:endParaRPr lang="en-IN" b="1" dirty="0"/>
                    </a:p>
                  </a:txBody>
                  <a:tcPr/>
                </a:tc>
                <a:tc>
                  <a:txBody>
                    <a:bodyPr/>
                    <a:lstStyle/>
                    <a:p>
                      <a:pPr algn="ctr"/>
                      <a:r>
                        <a:rPr lang="en-US" dirty="0" err="1"/>
                        <a:t>No.of</a:t>
                      </a:r>
                      <a:r>
                        <a:rPr lang="en-US" dirty="0"/>
                        <a:t> NULL Values</a:t>
                      </a:r>
                      <a:endParaRPr lang="en-IN" dirty="0"/>
                    </a:p>
                  </a:txBody>
                  <a:tcPr/>
                </a:tc>
                <a:extLst>
                  <a:ext uri="{0D108BD9-81ED-4DB2-BD59-A6C34878D82A}">
                    <a16:rowId xmlns:a16="http://schemas.microsoft.com/office/drawing/2014/main" val="460594842"/>
                  </a:ext>
                </a:extLst>
              </a:tr>
              <a:tr h="252110">
                <a:tc>
                  <a:txBody>
                    <a:bodyPr/>
                    <a:lstStyle/>
                    <a:p>
                      <a:pPr algn="ctr"/>
                      <a:r>
                        <a:rPr lang="en-US" dirty="0"/>
                        <a:t>Job</a:t>
                      </a:r>
                    </a:p>
                  </a:txBody>
                  <a:tcPr/>
                </a:tc>
                <a:tc>
                  <a:txBody>
                    <a:bodyPr/>
                    <a:lstStyle/>
                    <a:p>
                      <a:pPr algn="ctr"/>
                      <a:r>
                        <a:rPr lang="en-US" dirty="0"/>
                        <a:t>229</a:t>
                      </a:r>
                      <a:endParaRPr lang="en-IN" dirty="0"/>
                    </a:p>
                  </a:txBody>
                  <a:tcPr/>
                </a:tc>
                <a:extLst>
                  <a:ext uri="{0D108BD9-81ED-4DB2-BD59-A6C34878D82A}">
                    <a16:rowId xmlns:a16="http://schemas.microsoft.com/office/drawing/2014/main" val="269874107"/>
                  </a:ext>
                </a:extLst>
              </a:tr>
              <a:tr h="310753">
                <a:tc>
                  <a:txBody>
                    <a:bodyPr/>
                    <a:lstStyle/>
                    <a:p>
                      <a:pPr algn="ctr"/>
                      <a:r>
                        <a:rPr lang="en-US" dirty="0"/>
                        <a:t>Education</a:t>
                      </a:r>
                      <a:endParaRPr lang="en-IN" dirty="0"/>
                    </a:p>
                  </a:txBody>
                  <a:tcPr/>
                </a:tc>
                <a:tc>
                  <a:txBody>
                    <a:bodyPr/>
                    <a:lstStyle/>
                    <a:p>
                      <a:pPr algn="ctr"/>
                      <a:r>
                        <a:rPr lang="en-US" dirty="0"/>
                        <a:t>1467</a:t>
                      </a:r>
                      <a:endParaRPr lang="en-IN" dirty="0"/>
                    </a:p>
                  </a:txBody>
                  <a:tcPr/>
                </a:tc>
                <a:extLst>
                  <a:ext uri="{0D108BD9-81ED-4DB2-BD59-A6C34878D82A}">
                    <a16:rowId xmlns:a16="http://schemas.microsoft.com/office/drawing/2014/main" val="994827940"/>
                  </a:ext>
                </a:extLst>
              </a:tr>
              <a:tr h="252110">
                <a:tc>
                  <a:txBody>
                    <a:bodyPr/>
                    <a:lstStyle/>
                    <a:p>
                      <a:pPr algn="ctr"/>
                      <a:r>
                        <a:rPr lang="en-US" dirty="0"/>
                        <a:t>Contact</a:t>
                      </a:r>
                      <a:endParaRPr lang="en-IN" dirty="0"/>
                    </a:p>
                  </a:txBody>
                  <a:tcPr/>
                </a:tc>
                <a:tc>
                  <a:txBody>
                    <a:bodyPr/>
                    <a:lstStyle/>
                    <a:p>
                      <a:pPr algn="ctr"/>
                      <a:r>
                        <a:rPr lang="en-US" dirty="0"/>
                        <a:t>10336</a:t>
                      </a:r>
                      <a:endParaRPr lang="en-IN" dirty="0"/>
                    </a:p>
                  </a:txBody>
                  <a:tcPr/>
                </a:tc>
                <a:extLst>
                  <a:ext uri="{0D108BD9-81ED-4DB2-BD59-A6C34878D82A}">
                    <a16:rowId xmlns:a16="http://schemas.microsoft.com/office/drawing/2014/main" val="2380404609"/>
                  </a:ext>
                </a:extLst>
              </a:tr>
              <a:tr h="310753">
                <a:tc>
                  <a:txBody>
                    <a:bodyPr/>
                    <a:lstStyle/>
                    <a:p>
                      <a:pPr algn="ctr"/>
                      <a:r>
                        <a:rPr lang="en-US" dirty="0" err="1"/>
                        <a:t>Poutcome</a:t>
                      </a:r>
                      <a:endParaRPr lang="en-IN" dirty="0"/>
                    </a:p>
                  </a:txBody>
                  <a:tcPr/>
                </a:tc>
                <a:tc>
                  <a:txBody>
                    <a:bodyPr/>
                    <a:lstStyle/>
                    <a:p>
                      <a:pPr algn="ctr"/>
                      <a:r>
                        <a:rPr lang="en-US" dirty="0"/>
                        <a:t>29451</a:t>
                      </a:r>
                      <a:endParaRPr lang="en-IN" dirty="0"/>
                    </a:p>
                  </a:txBody>
                  <a:tcPr/>
                </a:tc>
                <a:extLst>
                  <a:ext uri="{0D108BD9-81ED-4DB2-BD59-A6C34878D82A}">
                    <a16:rowId xmlns:a16="http://schemas.microsoft.com/office/drawing/2014/main" val="3711150043"/>
                  </a:ext>
                </a:extLst>
              </a:tr>
            </a:tbl>
          </a:graphicData>
        </a:graphic>
      </p:graphicFrame>
    </p:spTree>
    <p:extLst>
      <p:ext uri="{BB962C8B-B14F-4D97-AF65-F5344CB8AC3E}">
        <p14:creationId xmlns:p14="http://schemas.microsoft.com/office/powerpoint/2010/main" val="2678526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A15F-FE42-DBAB-DD48-0C4F0115846E}"/>
              </a:ext>
            </a:extLst>
          </p:cNvPr>
          <p:cNvSpPr>
            <a:spLocks noGrp="1"/>
          </p:cNvSpPr>
          <p:nvPr>
            <p:ph type="title"/>
          </p:nvPr>
        </p:nvSpPr>
        <p:spPr>
          <a:xfrm>
            <a:off x="0" y="0"/>
            <a:ext cx="5099901" cy="735291"/>
          </a:xfrm>
        </p:spPr>
        <p:txBody>
          <a:bodyPr/>
          <a:lstStyle/>
          <a:p>
            <a:r>
              <a:rPr lang="en-US" dirty="0"/>
              <a:t>EDA -Binning</a:t>
            </a:r>
            <a:endParaRPr lang="en-IN" dirty="0"/>
          </a:p>
        </p:txBody>
      </p:sp>
      <p:pic>
        <p:nvPicPr>
          <p:cNvPr id="6" name="Content Placeholder 5">
            <a:extLst>
              <a:ext uri="{FF2B5EF4-FFF2-40B4-BE49-F238E27FC236}">
                <a16:creationId xmlns:a16="http://schemas.microsoft.com/office/drawing/2014/main" id="{C37A5019-C8CB-938C-146E-B93A2FB98F84}"/>
              </a:ext>
            </a:extLst>
          </p:cNvPr>
          <p:cNvPicPr>
            <a:picLocks noGrp="1" noChangeAspect="1"/>
          </p:cNvPicPr>
          <p:nvPr>
            <p:ph idx="1"/>
          </p:nvPr>
        </p:nvPicPr>
        <p:blipFill>
          <a:blip r:embed="rId2"/>
          <a:stretch>
            <a:fillRect/>
          </a:stretch>
        </p:blipFill>
        <p:spPr>
          <a:xfrm>
            <a:off x="38554" y="685070"/>
            <a:ext cx="4052438" cy="3337089"/>
          </a:xfrm>
        </p:spPr>
      </p:pic>
      <p:sp>
        <p:nvSpPr>
          <p:cNvPr id="4" name="Slide Number Placeholder 3">
            <a:extLst>
              <a:ext uri="{FF2B5EF4-FFF2-40B4-BE49-F238E27FC236}">
                <a16:creationId xmlns:a16="http://schemas.microsoft.com/office/drawing/2014/main" id="{5135A7BD-0871-9D8E-7420-F2CB4B6D8533}"/>
              </a:ext>
            </a:extLst>
          </p:cNvPr>
          <p:cNvSpPr>
            <a:spLocks noGrp="1"/>
          </p:cNvSpPr>
          <p:nvPr>
            <p:ph type="sldNum" sz="quarter" idx="12"/>
          </p:nvPr>
        </p:nvSpPr>
        <p:spPr/>
        <p:txBody>
          <a:bodyPr/>
          <a:lstStyle/>
          <a:p>
            <a:fld id="{1EDEEB96-EEF2-A041-AEC4-04121E2F9632}" type="slidenum">
              <a:rPr lang="en-US" smtClean="0"/>
              <a:pPr/>
              <a:t>6</a:t>
            </a:fld>
            <a:endParaRPr lang="en-US"/>
          </a:p>
        </p:txBody>
      </p:sp>
      <p:pic>
        <p:nvPicPr>
          <p:cNvPr id="8" name="Picture 7">
            <a:extLst>
              <a:ext uri="{FF2B5EF4-FFF2-40B4-BE49-F238E27FC236}">
                <a16:creationId xmlns:a16="http://schemas.microsoft.com/office/drawing/2014/main" id="{BA29336C-65A5-062E-46F5-30C4F4AD43F0}"/>
              </a:ext>
            </a:extLst>
          </p:cNvPr>
          <p:cNvPicPr>
            <a:picLocks noChangeAspect="1"/>
          </p:cNvPicPr>
          <p:nvPr/>
        </p:nvPicPr>
        <p:blipFill>
          <a:blip r:embed="rId3"/>
          <a:stretch>
            <a:fillRect/>
          </a:stretch>
        </p:blipFill>
        <p:spPr>
          <a:xfrm>
            <a:off x="4129546" y="47704"/>
            <a:ext cx="5660601" cy="4024676"/>
          </a:xfrm>
          <a:prstGeom prst="rect">
            <a:avLst/>
          </a:prstGeom>
        </p:spPr>
      </p:pic>
      <p:sp>
        <p:nvSpPr>
          <p:cNvPr id="9" name="TextBox 8">
            <a:extLst>
              <a:ext uri="{FF2B5EF4-FFF2-40B4-BE49-F238E27FC236}">
                <a16:creationId xmlns:a16="http://schemas.microsoft.com/office/drawing/2014/main" id="{A11698DD-CF97-D816-F859-580C83F95F34}"/>
              </a:ext>
            </a:extLst>
          </p:cNvPr>
          <p:cNvSpPr txBox="1"/>
          <p:nvPr/>
        </p:nvSpPr>
        <p:spPr>
          <a:xfrm>
            <a:off x="490194" y="820132"/>
            <a:ext cx="10303497" cy="395926"/>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1FF7523A-CE8C-8D41-A93E-5BC862B3BD77}"/>
              </a:ext>
            </a:extLst>
          </p:cNvPr>
          <p:cNvSpPr txBox="1"/>
          <p:nvPr/>
        </p:nvSpPr>
        <p:spPr>
          <a:xfrm>
            <a:off x="77108" y="4157220"/>
            <a:ext cx="11970348" cy="1600438"/>
          </a:xfrm>
          <a:prstGeom prst="rect">
            <a:avLst/>
          </a:prstGeom>
          <a:noFill/>
        </p:spPr>
        <p:txBody>
          <a:bodyPr wrap="square" rtlCol="0">
            <a:spAutoFit/>
          </a:bodyPr>
          <a:lstStyle/>
          <a:p>
            <a:r>
              <a:rPr lang="en-US" sz="1700" b="1" dirty="0"/>
              <a:t>Binning Analysis: </a:t>
            </a:r>
            <a:r>
              <a:rPr lang="en-US" sz="1800" dirty="0"/>
              <a:t> </a:t>
            </a:r>
          </a:p>
          <a:p>
            <a:pPr marL="342900" indent="-342900">
              <a:buFont typeface="+mj-lt"/>
              <a:buAutoNum type="arabicPeriod"/>
            </a:pPr>
            <a:r>
              <a:rPr lang="en-US" sz="1600" b="1" dirty="0"/>
              <a:t>Age</a:t>
            </a:r>
            <a:r>
              <a:rPr lang="en-US" sz="1600" dirty="0"/>
              <a:t>: Grouped into six age brackets (18-95). Most clients were in the 31-50 range, indicating middle-aged clients are the campaign's main target.</a:t>
            </a:r>
          </a:p>
          <a:p>
            <a:pPr marL="342900" indent="-342900">
              <a:buFont typeface="+mj-lt"/>
              <a:buAutoNum type="arabicPeriod"/>
            </a:pPr>
            <a:r>
              <a:rPr lang="en-US" sz="1600" b="1" dirty="0"/>
              <a:t>Balance</a:t>
            </a:r>
            <a:r>
              <a:rPr lang="en-US" sz="1600" dirty="0"/>
              <a:t>: Segmented into five financial ranges. Majority had balances between $0 and $5,000, highlighting diverse financial profiles.</a:t>
            </a:r>
          </a:p>
          <a:p>
            <a:pPr marL="342900" indent="-342900">
              <a:buFont typeface="+mj-lt"/>
              <a:buAutoNum type="arabicPeriod"/>
            </a:pPr>
            <a:r>
              <a:rPr lang="en-US" sz="1600" b="1" dirty="0"/>
              <a:t>Contact Duration</a:t>
            </a:r>
            <a:r>
              <a:rPr lang="en-US" sz="1600" dirty="0"/>
              <a:t>: Divided into five intervals. Most calls lasted under 600 seconds, with longer calls possibly linked to higher success.</a:t>
            </a:r>
          </a:p>
          <a:p>
            <a:pPr marL="342900" indent="-342900">
              <a:buFont typeface="+mj-lt"/>
              <a:buAutoNum type="arabicPeriod"/>
            </a:pPr>
            <a:r>
              <a:rPr lang="en-US" sz="1600" b="1" dirty="0"/>
              <a:t>Campaign Success by Age Group</a:t>
            </a:r>
            <a:r>
              <a:rPr lang="en-US" sz="1600" dirty="0"/>
              <a:t>: Success was highest among the 31-50 age group, showing targeted age brackets respond well.</a:t>
            </a:r>
          </a:p>
        </p:txBody>
      </p:sp>
      <p:sp>
        <p:nvSpPr>
          <p:cNvPr id="11" name="TextBox 10">
            <a:extLst>
              <a:ext uri="{FF2B5EF4-FFF2-40B4-BE49-F238E27FC236}">
                <a16:creationId xmlns:a16="http://schemas.microsoft.com/office/drawing/2014/main" id="{C89202A7-98DF-CAFC-09DA-1866C2C376EB}"/>
              </a:ext>
            </a:extLst>
          </p:cNvPr>
          <p:cNvSpPr txBox="1"/>
          <p:nvPr/>
        </p:nvSpPr>
        <p:spPr>
          <a:xfrm>
            <a:off x="9973559" y="235670"/>
            <a:ext cx="2073897" cy="3293209"/>
          </a:xfrm>
          <a:prstGeom prst="rect">
            <a:avLst/>
          </a:prstGeom>
          <a:noFill/>
        </p:spPr>
        <p:txBody>
          <a:bodyPr wrap="square" rtlCol="0">
            <a:spAutoFit/>
          </a:bodyPr>
          <a:lstStyle/>
          <a:p>
            <a:r>
              <a:rPr lang="en-US" sz="1600" b="1" dirty="0"/>
              <a:t>Binning</a:t>
            </a:r>
            <a:r>
              <a:rPr lang="en-US" sz="1600" dirty="0"/>
              <a:t> is a data preprocessing technique where we group continuous variables into discrete categories or "bins." </a:t>
            </a:r>
            <a:r>
              <a:rPr lang="en-US" sz="1600" b="1" dirty="0"/>
              <a:t>This approach helps us better understand data distribution and highlights patterns that may not be immediately visible with raw values. </a:t>
            </a:r>
            <a:endParaRPr lang="en-IN" sz="1600" dirty="0"/>
          </a:p>
        </p:txBody>
      </p:sp>
    </p:spTree>
    <p:extLst>
      <p:ext uri="{BB962C8B-B14F-4D97-AF65-F5344CB8AC3E}">
        <p14:creationId xmlns:p14="http://schemas.microsoft.com/office/powerpoint/2010/main" val="3865635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0FE6EC-79A2-E2B8-DA4B-CDD87837B327}"/>
              </a:ext>
            </a:extLst>
          </p:cNvPr>
          <p:cNvSpPr>
            <a:spLocks noGrp="1"/>
          </p:cNvSpPr>
          <p:nvPr>
            <p:ph type="sldNum" sz="quarter" idx="12"/>
          </p:nvPr>
        </p:nvSpPr>
        <p:spPr/>
        <p:txBody>
          <a:bodyPr/>
          <a:lstStyle/>
          <a:p>
            <a:fld id="{1EDEEB96-EEF2-A041-AEC4-04121E2F9632}" type="slidenum">
              <a:rPr lang="en-US" smtClean="0"/>
              <a:t>7</a:t>
            </a:fld>
            <a:endParaRPr lang="en-US"/>
          </a:p>
        </p:txBody>
      </p:sp>
      <p:sp>
        <p:nvSpPr>
          <p:cNvPr id="4" name="TextBox 3">
            <a:extLst>
              <a:ext uri="{FF2B5EF4-FFF2-40B4-BE49-F238E27FC236}">
                <a16:creationId xmlns:a16="http://schemas.microsoft.com/office/drawing/2014/main" id="{C00636F6-C609-9EE0-2D88-FA279ED59D63}"/>
              </a:ext>
            </a:extLst>
          </p:cNvPr>
          <p:cNvSpPr txBox="1"/>
          <p:nvPr/>
        </p:nvSpPr>
        <p:spPr>
          <a:xfrm>
            <a:off x="84841" y="1150070"/>
            <a:ext cx="11809084" cy="4826524"/>
          </a:xfrm>
          <a:prstGeom prst="rect">
            <a:avLst/>
          </a:prstGeom>
          <a:noFill/>
        </p:spPr>
        <p:txBody>
          <a:bodyPr wrap="square" rtlCol="0">
            <a:spAutoFit/>
          </a:bodyPr>
          <a:lstStyle/>
          <a:p>
            <a:endParaRPr lang="en-IN" dirty="0"/>
          </a:p>
        </p:txBody>
      </p:sp>
      <p:graphicFrame>
        <p:nvGraphicFramePr>
          <p:cNvPr id="9" name="Table 8">
            <a:extLst>
              <a:ext uri="{FF2B5EF4-FFF2-40B4-BE49-F238E27FC236}">
                <a16:creationId xmlns:a16="http://schemas.microsoft.com/office/drawing/2014/main" id="{6476A6CA-F973-92C8-ADF6-E8FEE50E4D0F}"/>
              </a:ext>
            </a:extLst>
          </p:cNvPr>
          <p:cNvGraphicFramePr>
            <a:graphicFrameLocks noGrp="1"/>
          </p:cNvGraphicFramePr>
          <p:nvPr>
            <p:extLst>
              <p:ext uri="{D42A27DB-BD31-4B8C-83A1-F6EECF244321}">
                <p14:modId xmlns:p14="http://schemas.microsoft.com/office/powerpoint/2010/main" val="87543072"/>
              </p:ext>
            </p:extLst>
          </p:nvPr>
        </p:nvGraphicFramePr>
        <p:xfrm>
          <a:off x="42420" y="509720"/>
          <a:ext cx="12107160" cy="5466874"/>
        </p:xfrm>
        <a:graphic>
          <a:graphicData uri="http://schemas.openxmlformats.org/drawingml/2006/table">
            <a:tbl>
              <a:tblPr firstRow="1" bandRow="1">
                <a:tableStyleId>{5C22544A-7EE6-4342-B048-85BDC9FD1C3A}</a:tableStyleId>
              </a:tblPr>
              <a:tblGrid>
                <a:gridCol w="1806715">
                  <a:extLst>
                    <a:ext uri="{9D8B030D-6E8A-4147-A177-3AD203B41FA5}">
                      <a16:colId xmlns:a16="http://schemas.microsoft.com/office/drawing/2014/main" val="492206107"/>
                    </a:ext>
                  </a:extLst>
                </a:gridCol>
                <a:gridCol w="3051753">
                  <a:extLst>
                    <a:ext uri="{9D8B030D-6E8A-4147-A177-3AD203B41FA5}">
                      <a16:colId xmlns:a16="http://schemas.microsoft.com/office/drawing/2014/main" val="1814030847"/>
                    </a:ext>
                  </a:extLst>
                </a:gridCol>
                <a:gridCol w="3482368">
                  <a:extLst>
                    <a:ext uri="{9D8B030D-6E8A-4147-A177-3AD203B41FA5}">
                      <a16:colId xmlns:a16="http://schemas.microsoft.com/office/drawing/2014/main" val="2541388202"/>
                    </a:ext>
                  </a:extLst>
                </a:gridCol>
                <a:gridCol w="3766324">
                  <a:extLst>
                    <a:ext uri="{9D8B030D-6E8A-4147-A177-3AD203B41FA5}">
                      <a16:colId xmlns:a16="http://schemas.microsoft.com/office/drawing/2014/main" val="138256651"/>
                    </a:ext>
                  </a:extLst>
                </a:gridCol>
              </a:tblGrid>
              <a:tr h="383277">
                <a:tc>
                  <a:txBody>
                    <a:bodyPr/>
                    <a:lstStyle/>
                    <a:p>
                      <a:pPr algn="ctr"/>
                      <a:r>
                        <a:rPr lang="en-US" dirty="0"/>
                        <a:t>Aspect</a:t>
                      </a:r>
                      <a:endParaRPr lang="en-IN" dirty="0"/>
                    </a:p>
                  </a:txBody>
                  <a:tcPr/>
                </a:tc>
                <a:tc>
                  <a:txBody>
                    <a:bodyPr/>
                    <a:lstStyle/>
                    <a:p>
                      <a:pPr algn="ctr"/>
                      <a:r>
                        <a:rPr lang="en-US" dirty="0"/>
                        <a:t>Univariate Analysis</a:t>
                      </a:r>
                      <a:endParaRPr lang="en-IN" dirty="0"/>
                    </a:p>
                  </a:txBody>
                  <a:tcPr/>
                </a:tc>
                <a:tc>
                  <a:txBody>
                    <a:bodyPr/>
                    <a:lstStyle/>
                    <a:p>
                      <a:pPr algn="ctr"/>
                      <a:r>
                        <a:rPr lang="en-US" dirty="0"/>
                        <a:t>Bivariate Analysis</a:t>
                      </a:r>
                      <a:endParaRPr lang="en-IN" dirty="0"/>
                    </a:p>
                  </a:txBody>
                  <a:tcPr/>
                </a:tc>
                <a:tc>
                  <a:txBody>
                    <a:bodyPr/>
                    <a:lstStyle/>
                    <a:p>
                      <a:pPr algn="ctr"/>
                      <a:r>
                        <a:rPr lang="en-US" dirty="0"/>
                        <a:t>Multivariate Analysis</a:t>
                      </a:r>
                      <a:endParaRPr lang="en-IN" dirty="0"/>
                    </a:p>
                  </a:txBody>
                  <a:tcPr/>
                </a:tc>
                <a:extLst>
                  <a:ext uri="{0D108BD9-81ED-4DB2-BD59-A6C34878D82A}">
                    <a16:rowId xmlns:a16="http://schemas.microsoft.com/office/drawing/2014/main" val="3050750882"/>
                  </a:ext>
                </a:extLst>
              </a:tr>
              <a:tr h="621418">
                <a:tc>
                  <a:txBody>
                    <a:bodyPr/>
                    <a:lstStyle/>
                    <a:p>
                      <a:pPr algn="ctr"/>
                      <a:r>
                        <a:rPr lang="en-IN" dirty="0"/>
                        <a:t>Definition</a:t>
                      </a:r>
                    </a:p>
                  </a:txBody>
                  <a:tcPr/>
                </a:tc>
                <a:tc>
                  <a:txBody>
                    <a:bodyPr/>
                    <a:lstStyle/>
                    <a:p>
                      <a:pPr algn="ctr"/>
                      <a:r>
                        <a:rPr lang="en-US" dirty="0"/>
                        <a:t>Analyzes one variable at a time</a:t>
                      </a:r>
                      <a:endParaRPr lang="en-IN" dirty="0"/>
                    </a:p>
                  </a:txBody>
                  <a:tcPr/>
                </a:tc>
                <a:tc>
                  <a:txBody>
                    <a:bodyPr/>
                    <a:lstStyle/>
                    <a:p>
                      <a:pPr algn="ctr"/>
                      <a:r>
                        <a:rPr lang="en-US" dirty="0"/>
                        <a:t>Examines relationship between two variables</a:t>
                      </a:r>
                      <a:endParaRPr lang="en-IN" dirty="0"/>
                    </a:p>
                  </a:txBody>
                  <a:tcPr/>
                </a:tc>
                <a:tc>
                  <a:txBody>
                    <a:bodyPr/>
                    <a:lstStyle/>
                    <a:p>
                      <a:pPr algn="ctr"/>
                      <a:r>
                        <a:rPr lang="en-US" dirty="0"/>
                        <a:t>Studies relationships among three or more variables</a:t>
                      </a:r>
                    </a:p>
                  </a:txBody>
                  <a:tcPr anchor="ctr"/>
                </a:tc>
                <a:extLst>
                  <a:ext uri="{0D108BD9-81ED-4DB2-BD59-A6C34878D82A}">
                    <a16:rowId xmlns:a16="http://schemas.microsoft.com/office/drawing/2014/main" val="2702468957"/>
                  </a:ext>
                </a:extLst>
              </a:tr>
              <a:tr h="621418">
                <a:tc>
                  <a:txBody>
                    <a:bodyPr/>
                    <a:lstStyle/>
                    <a:p>
                      <a:pPr algn="ctr"/>
                      <a:r>
                        <a:rPr lang="en-IN" dirty="0"/>
                        <a:t>Purpose</a:t>
                      </a:r>
                    </a:p>
                  </a:txBody>
                  <a:tcPr/>
                </a:tc>
                <a:tc>
                  <a:txBody>
                    <a:bodyPr/>
                    <a:lstStyle/>
                    <a:p>
                      <a:pPr algn="ctr"/>
                      <a:r>
                        <a:rPr lang="en-IN" dirty="0"/>
                        <a:t>Describes single-variable distribution</a:t>
                      </a:r>
                    </a:p>
                  </a:txBody>
                  <a:tcPr/>
                </a:tc>
                <a:tc>
                  <a:txBody>
                    <a:bodyPr/>
                    <a:lstStyle/>
                    <a:p>
                      <a:pPr algn="ctr"/>
                      <a:r>
                        <a:rPr lang="en-IN" dirty="0"/>
                        <a:t>Identifies associations or correlations</a:t>
                      </a:r>
                    </a:p>
                  </a:txBody>
                  <a:tcPr/>
                </a:tc>
                <a:tc>
                  <a:txBody>
                    <a:bodyPr/>
                    <a:lstStyle/>
                    <a:p>
                      <a:pPr algn="ctr"/>
                      <a:r>
                        <a:rPr lang="en-IN" dirty="0"/>
                        <a:t>Explores complex interactions</a:t>
                      </a:r>
                    </a:p>
                  </a:txBody>
                  <a:tcPr anchor="ctr"/>
                </a:tc>
                <a:extLst>
                  <a:ext uri="{0D108BD9-81ED-4DB2-BD59-A6C34878D82A}">
                    <a16:rowId xmlns:a16="http://schemas.microsoft.com/office/drawing/2014/main" val="3104717434"/>
                  </a:ext>
                </a:extLst>
              </a:tr>
              <a:tr h="621418">
                <a:tc>
                  <a:txBody>
                    <a:bodyPr/>
                    <a:lstStyle/>
                    <a:p>
                      <a:pPr algn="ctr"/>
                      <a:r>
                        <a:rPr lang="en-IN" dirty="0"/>
                        <a:t>Techniques</a:t>
                      </a:r>
                    </a:p>
                  </a:txBody>
                  <a:tcPr/>
                </a:tc>
                <a:tc>
                  <a:txBody>
                    <a:bodyPr/>
                    <a:lstStyle/>
                    <a:p>
                      <a:pPr algn="ctr"/>
                      <a:r>
                        <a:rPr lang="en-US" dirty="0"/>
                        <a:t>Histograms, bar charts, box plots</a:t>
                      </a:r>
                      <a:endParaRPr lang="en-IN" dirty="0"/>
                    </a:p>
                  </a:txBody>
                  <a:tcPr/>
                </a:tc>
                <a:tc>
                  <a:txBody>
                    <a:bodyPr/>
                    <a:lstStyle/>
                    <a:p>
                      <a:pPr algn="ctr"/>
                      <a:r>
                        <a:rPr lang="en-IN" dirty="0"/>
                        <a:t>Scatter plots, correlation coefficients</a:t>
                      </a:r>
                    </a:p>
                  </a:txBody>
                  <a:tcPr/>
                </a:tc>
                <a:tc>
                  <a:txBody>
                    <a:bodyPr/>
                    <a:lstStyle/>
                    <a:p>
                      <a:pPr algn="ctr"/>
                      <a:r>
                        <a:rPr lang="en-IN" dirty="0"/>
                        <a:t>Regression, clustering, factor analysis</a:t>
                      </a:r>
                    </a:p>
                  </a:txBody>
                  <a:tcPr anchor="ctr"/>
                </a:tc>
                <a:extLst>
                  <a:ext uri="{0D108BD9-81ED-4DB2-BD59-A6C34878D82A}">
                    <a16:rowId xmlns:a16="http://schemas.microsoft.com/office/drawing/2014/main" val="2123510289"/>
                  </a:ext>
                </a:extLst>
              </a:tr>
              <a:tr h="603037">
                <a:tc>
                  <a:txBody>
                    <a:bodyPr/>
                    <a:lstStyle/>
                    <a:p>
                      <a:pPr algn="ctr"/>
                      <a:r>
                        <a:rPr lang="en-IN" dirty="0"/>
                        <a:t>Data Complexity</a:t>
                      </a:r>
                    </a:p>
                  </a:txBody>
                  <a:tcPr/>
                </a:tc>
                <a:tc>
                  <a:txBody>
                    <a:bodyPr/>
                    <a:lstStyle/>
                    <a:p>
                      <a:pPr algn="ctr"/>
                      <a:r>
                        <a:rPr lang="en-IN" dirty="0"/>
                        <a:t>Simple</a:t>
                      </a:r>
                    </a:p>
                  </a:txBody>
                  <a:tcPr/>
                </a:tc>
                <a:tc>
                  <a:txBody>
                    <a:bodyPr/>
                    <a:lstStyle/>
                    <a:p>
                      <a:pPr algn="ctr"/>
                      <a:r>
                        <a:rPr lang="en-IN" dirty="0"/>
                        <a:t>Moderate</a:t>
                      </a:r>
                    </a:p>
                  </a:txBody>
                  <a:tcPr anchor="ctr"/>
                </a:tc>
                <a:tc>
                  <a:txBody>
                    <a:bodyPr/>
                    <a:lstStyle/>
                    <a:p>
                      <a:pPr algn="ctr"/>
                      <a:r>
                        <a:rPr lang="en-IN" dirty="0"/>
                        <a:t>High</a:t>
                      </a:r>
                    </a:p>
                  </a:txBody>
                  <a:tcPr anchor="ctr"/>
                </a:tc>
                <a:extLst>
                  <a:ext uri="{0D108BD9-81ED-4DB2-BD59-A6C34878D82A}">
                    <a16:rowId xmlns:a16="http://schemas.microsoft.com/office/drawing/2014/main" val="469328576"/>
                  </a:ext>
                </a:extLst>
              </a:tr>
              <a:tr h="621418">
                <a:tc>
                  <a:txBody>
                    <a:bodyPr/>
                    <a:lstStyle/>
                    <a:p>
                      <a:pPr algn="ctr"/>
                      <a:r>
                        <a:rPr lang="en-IN" dirty="0"/>
                        <a:t>Insights</a:t>
                      </a:r>
                    </a:p>
                  </a:txBody>
                  <a:tcPr/>
                </a:tc>
                <a:tc>
                  <a:txBody>
                    <a:bodyPr/>
                    <a:lstStyle/>
                    <a:p>
                      <a:pPr algn="ctr"/>
                      <a:r>
                        <a:rPr lang="en-IN" dirty="0"/>
                        <a:t>Central tendency, spread</a:t>
                      </a:r>
                    </a:p>
                  </a:txBody>
                  <a:tcPr/>
                </a:tc>
                <a:tc>
                  <a:txBody>
                    <a:bodyPr/>
                    <a:lstStyle/>
                    <a:p>
                      <a:pPr algn="ctr"/>
                      <a:r>
                        <a:rPr lang="en-IN" dirty="0"/>
                        <a:t>Trends, correlations, causal links</a:t>
                      </a:r>
                    </a:p>
                  </a:txBody>
                  <a:tcPr anchor="ctr"/>
                </a:tc>
                <a:tc>
                  <a:txBody>
                    <a:bodyPr/>
                    <a:lstStyle/>
                    <a:p>
                      <a:pPr algn="ctr"/>
                      <a:r>
                        <a:rPr lang="en-IN" dirty="0"/>
                        <a:t>Multi-variable influences and predictions</a:t>
                      </a:r>
                    </a:p>
                  </a:txBody>
                  <a:tcPr/>
                </a:tc>
                <a:extLst>
                  <a:ext uri="{0D108BD9-81ED-4DB2-BD59-A6C34878D82A}">
                    <a16:rowId xmlns:a16="http://schemas.microsoft.com/office/drawing/2014/main" val="787133355"/>
                  </a:ext>
                </a:extLst>
              </a:tr>
              <a:tr h="621418">
                <a:tc>
                  <a:txBody>
                    <a:bodyPr/>
                    <a:lstStyle/>
                    <a:p>
                      <a:pPr algn="ctr"/>
                      <a:r>
                        <a:rPr lang="en-IN" dirty="0"/>
                        <a:t>Visualization</a:t>
                      </a:r>
                    </a:p>
                  </a:txBody>
                  <a:tcPr/>
                </a:tc>
                <a:tc>
                  <a:txBody>
                    <a:bodyPr/>
                    <a:lstStyle/>
                    <a:p>
                      <a:pPr algn="ctr"/>
                      <a:r>
                        <a:rPr lang="en-IN" dirty="0"/>
                        <a:t>Single-axis plots</a:t>
                      </a:r>
                    </a:p>
                  </a:txBody>
                  <a:tcPr anchor="ctr"/>
                </a:tc>
                <a:tc>
                  <a:txBody>
                    <a:bodyPr/>
                    <a:lstStyle/>
                    <a:p>
                      <a:pPr algn="ctr"/>
                      <a:r>
                        <a:rPr lang="en-IN" dirty="0"/>
                        <a:t>2D plots (scatter, line)</a:t>
                      </a:r>
                    </a:p>
                  </a:txBody>
                  <a:tcPr anchor="ctr"/>
                </a:tc>
                <a:tc>
                  <a:txBody>
                    <a:bodyPr/>
                    <a:lstStyle/>
                    <a:p>
                      <a:pPr algn="ctr" fontAlgn="base"/>
                      <a:r>
                        <a:rPr lang="en-US" dirty="0">
                          <a:effectLst/>
                        </a:rPr>
                        <a:t>3D plots, heatmaps, multivariable models</a:t>
                      </a:r>
                    </a:p>
                  </a:txBody>
                  <a:tcPr anchor="ctr"/>
                </a:tc>
                <a:extLst>
                  <a:ext uri="{0D108BD9-81ED-4DB2-BD59-A6C34878D82A}">
                    <a16:rowId xmlns:a16="http://schemas.microsoft.com/office/drawing/2014/main" val="1661795071"/>
                  </a:ext>
                </a:extLst>
              </a:tr>
              <a:tr h="621418">
                <a:tc>
                  <a:txBody>
                    <a:bodyPr/>
                    <a:lstStyle/>
                    <a:p>
                      <a:pPr algn="ctr"/>
                      <a:r>
                        <a:rPr lang="en-IN" dirty="0"/>
                        <a:t>Example Question</a:t>
                      </a:r>
                    </a:p>
                  </a:txBody>
                  <a:tcPr/>
                </a:tc>
                <a:tc>
                  <a:txBody>
                    <a:bodyPr/>
                    <a:lstStyle/>
                    <a:p>
                      <a:pPr algn="ctr"/>
                      <a:r>
                        <a:rPr lang="en-US" dirty="0"/>
                        <a:t>"What is the average age?"</a:t>
                      </a:r>
                    </a:p>
                  </a:txBody>
                  <a:tcPr anchor="ctr"/>
                </a:tc>
                <a:tc>
                  <a:txBody>
                    <a:bodyPr/>
                    <a:lstStyle/>
                    <a:p>
                      <a:pPr algn="ctr"/>
                      <a:r>
                        <a:rPr lang="en-US" dirty="0"/>
                        <a:t>"Is age related to income?"</a:t>
                      </a:r>
                    </a:p>
                  </a:txBody>
                  <a:tcPr anchor="ctr"/>
                </a:tc>
                <a:tc>
                  <a:txBody>
                    <a:bodyPr/>
                    <a:lstStyle/>
                    <a:p>
                      <a:pPr algn="ctr"/>
                      <a:r>
                        <a:rPr lang="en-US" dirty="0"/>
                        <a:t>"How do age, income, and education impact spending?"</a:t>
                      </a:r>
                    </a:p>
                  </a:txBody>
                  <a:tcPr anchor="ctr"/>
                </a:tc>
                <a:extLst>
                  <a:ext uri="{0D108BD9-81ED-4DB2-BD59-A6C34878D82A}">
                    <a16:rowId xmlns:a16="http://schemas.microsoft.com/office/drawing/2014/main" val="3606697785"/>
                  </a:ext>
                </a:extLst>
              </a:tr>
              <a:tr h="621418">
                <a:tc>
                  <a:txBody>
                    <a:bodyPr/>
                    <a:lstStyle/>
                    <a:p>
                      <a:pPr algn="ctr"/>
                      <a:r>
                        <a:rPr lang="en-IN" dirty="0"/>
                        <a:t>Application</a:t>
                      </a:r>
                    </a:p>
                  </a:txBody>
                  <a:tcPr/>
                </a:tc>
                <a:tc>
                  <a:txBody>
                    <a:bodyPr/>
                    <a:lstStyle/>
                    <a:p>
                      <a:pPr algn="ctr"/>
                      <a:r>
                        <a:rPr lang="en-IN" dirty="0"/>
                        <a:t>Descriptive stats, data summarization</a:t>
                      </a:r>
                    </a:p>
                  </a:txBody>
                  <a:tcPr anchor="ctr"/>
                </a:tc>
                <a:tc>
                  <a:txBody>
                    <a:bodyPr/>
                    <a:lstStyle/>
                    <a:p>
                      <a:pPr algn="ctr"/>
                      <a:r>
                        <a:rPr lang="en-IN" dirty="0"/>
                        <a:t>Cause-effect analysis, correlation</a:t>
                      </a:r>
                    </a:p>
                  </a:txBody>
                  <a:tcPr/>
                </a:tc>
                <a:tc>
                  <a:txBody>
                    <a:bodyPr/>
                    <a:lstStyle/>
                    <a:p>
                      <a:pPr algn="ctr"/>
                      <a:r>
                        <a:rPr lang="en-IN" dirty="0"/>
                        <a:t>Complex </a:t>
                      </a:r>
                      <a:r>
                        <a:rPr lang="en-IN" dirty="0" err="1"/>
                        <a:t>modeling</a:t>
                      </a:r>
                      <a:r>
                        <a:rPr lang="en-IN" dirty="0"/>
                        <a:t>, predictive analytics</a:t>
                      </a:r>
                    </a:p>
                  </a:txBody>
                  <a:tcPr anchor="ctr"/>
                </a:tc>
                <a:extLst>
                  <a:ext uri="{0D108BD9-81ED-4DB2-BD59-A6C34878D82A}">
                    <a16:rowId xmlns:a16="http://schemas.microsoft.com/office/drawing/2014/main" val="508630210"/>
                  </a:ext>
                </a:extLst>
              </a:tr>
            </a:tbl>
          </a:graphicData>
        </a:graphic>
      </p:graphicFrame>
      <p:sp>
        <p:nvSpPr>
          <p:cNvPr id="2" name="Title 1">
            <a:extLst>
              <a:ext uri="{FF2B5EF4-FFF2-40B4-BE49-F238E27FC236}">
                <a16:creationId xmlns:a16="http://schemas.microsoft.com/office/drawing/2014/main" id="{54DCE047-D7D7-1519-8250-AD106F992D77}"/>
              </a:ext>
            </a:extLst>
          </p:cNvPr>
          <p:cNvSpPr>
            <a:spLocks noGrp="1"/>
          </p:cNvSpPr>
          <p:nvPr>
            <p:ph type="title"/>
          </p:nvPr>
        </p:nvSpPr>
        <p:spPr>
          <a:xfrm>
            <a:off x="0" y="1"/>
            <a:ext cx="12192000" cy="509720"/>
          </a:xfrm>
        </p:spPr>
        <p:txBody>
          <a:bodyPr>
            <a:normAutofit fontScale="90000"/>
          </a:bodyPr>
          <a:lstStyle/>
          <a:p>
            <a:pPr algn="ctr"/>
            <a:r>
              <a:rPr lang="en-US" dirty="0"/>
              <a:t>Univariate v/s  Bivariate v/s Multivariate</a:t>
            </a:r>
            <a:endParaRPr lang="en-IN" dirty="0"/>
          </a:p>
        </p:txBody>
      </p:sp>
    </p:spTree>
    <p:extLst>
      <p:ext uri="{BB962C8B-B14F-4D97-AF65-F5344CB8AC3E}">
        <p14:creationId xmlns:p14="http://schemas.microsoft.com/office/powerpoint/2010/main" val="4105831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1AAE1-1D2D-30B3-9212-5D3BF9D188D1}"/>
              </a:ext>
            </a:extLst>
          </p:cNvPr>
          <p:cNvSpPr>
            <a:spLocks noGrp="1"/>
          </p:cNvSpPr>
          <p:nvPr>
            <p:ph type="title"/>
          </p:nvPr>
        </p:nvSpPr>
        <p:spPr>
          <a:xfrm>
            <a:off x="0" y="-187257"/>
            <a:ext cx="10515600" cy="942814"/>
          </a:xfrm>
        </p:spPr>
        <p:txBody>
          <a:bodyPr/>
          <a:lstStyle/>
          <a:p>
            <a:r>
              <a:rPr lang="en-US" dirty="0"/>
              <a:t>Univariate Analysis</a:t>
            </a:r>
            <a:endParaRPr lang="en-IN" dirty="0"/>
          </a:p>
        </p:txBody>
      </p:sp>
      <p:sp>
        <p:nvSpPr>
          <p:cNvPr id="3" name="Slide Number Placeholder 2">
            <a:extLst>
              <a:ext uri="{FF2B5EF4-FFF2-40B4-BE49-F238E27FC236}">
                <a16:creationId xmlns:a16="http://schemas.microsoft.com/office/drawing/2014/main" id="{791B9F25-2245-D68C-F226-20E078C32ED7}"/>
              </a:ext>
            </a:extLst>
          </p:cNvPr>
          <p:cNvSpPr>
            <a:spLocks noGrp="1"/>
          </p:cNvSpPr>
          <p:nvPr>
            <p:ph type="sldNum" sz="quarter" idx="12"/>
          </p:nvPr>
        </p:nvSpPr>
        <p:spPr/>
        <p:txBody>
          <a:bodyPr/>
          <a:lstStyle/>
          <a:p>
            <a:fld id="{1EDEEB96-EEF2-A041-AEC4-04121E2F9632}" type="slidenum">
              <a:rPr lang="en-US" smtClean="0"/>
              <a:t>8</a:t>
            </a:fld>
            <a:endParaRPr lang="en-US"/>
          </a:p>
        </p:txBody>
      </p:sp>
      <p:pic>
        <p:nvPicPr>
          <p:cNvPr id="5" name="Picture 4">
            <a:extLst>
              <a:ext uri="{FF2B5EF4-FFF2-40B4-BE49-F238E27FC236}">
                <a16:creationId xmlns:a16="http://schemas.microsoft.com/office/drawing/2014/main" id="{6896A33B-435B-2AED-5428-A1F724F4612A}"/>
              </a:ext>
            </a:extLst>
          </p:cNvPr>
          <p:cNvPicPr>
            <a:picLocks noChangeAspect="1"/>
          </p:cNvPicPr>
          <p:nvPr/>
        </p:nvPicPr>
        <p:blipFill>
          <a:blip r:embed="rId2"/>
          <a:stretch>
            <a:fillRect/>
          </a:stretch>
        </p:blipFill>
        <p:spPr>
          <a:xfrm>
            <a:off x="0" y="1819373"/>
            <a:ext cx="5708666" cy="4283070"/>
          </a:xfrm>
          <a:prstGeom prst="rect">
            <a:avLst/>
          </a:prstGeom>
        </p:spPr>
      </p:pic>
      <p:pic>
        <p:nvPicPr>
          <p:cNvPr id="7" name="Picture 6">
            <a:extLst>
              <a:ext uri="{FF2B5EF4-FFF2-40B4-BE49-F238E27FC236}">
                <a16:creationId xmlns:a16="http://schemas.microsoft.com/office/drawing/2014/main" id="{FDC7349D-7A17-266F-2B51-A3FCDD0977AF}"/>
              </a:ext>
            </a:extLst>
          </p:cNvPr>
          <p:cNvPicPr>
            <a:picLocks noChangeAspect="1"/>
          </p:cNvPicPr>
          <p:nvPr/>
        </p:nvPicPr>
        <p:blipFill>
          <a:blip r:embed="rId3"/>
          <a:stretch>
            <a:fillRect/>
          </a:stretch>
        </p:blipFill>
        <p:spPr>
          <a:xfrm>
            <a:off x="6026871" y="1903677"/>
            <a:ext cx="6165129" cy="4198766"/>
          </a:xfrm>
          <a:prstGeom prst="rect">
            <a:avLst/>
          </a:prstGeom>
        </p:spPr>
      </p:pic>
      <p:sp>
        <p:nvSpPr>
          <p:cNvPr id="8" name="TextBox 7">
            <a:extLst>
              <a:ext uri="{FF2B5EF4-FFF2-40B4-BE49-F238E27FC236}">
                <a16:creationId xmlns:a16="http://schemas.microsoft.com/office/drawing/2014/main" id="{48DEC5B4-CF98-A314-93CE-D5ACF7417284}"/>
              </a:ext>
            </a:extLst>
          </p:cNvPr>
          <p:cNvSpPr txBox="1"/>
          <p:nvPr/>
        </p:nvSpPr>
        <p:spPr>
          <a:xfrm>
            <a:off x="103694" y="495653"/>
            <a:ext cx="5429839" cy="1384995"/>
          </a:xfrm>
          <a:prstGeom prst="rect">
            <a:avLst/>
          </a:prstGeom>
          <a:noFill/>
        </p:spPr>
        <p:txBody>
          <a:bodyPr wrap="square" rtlCol="0">
            <a:spAutoFit/>
          </a:bodyPr>
          <a:lstStyle/>
          <a:p>
            <a:r>
              <a:rPr lang="en-US" sz="1400" dirty="0"/>
              <a:t>This univariate analysis of </a:t>
            </a:r>
            <a:r>
              <a:rPr lang="en-US" sz="1400" b="1" dirty="0"/>
              <a:t>`balance` </a:t>
            </a:r>
            <a:r>
              <a:rPr lang="en-US" sz="1400" dirty="0"/>
              <a:t>shows how frequently different balance values occur, with the histogram and KDE curve revealing the data's shape. The peak indicates the most common balance range, while the spread shows variability. If skewed, it hints that balances tend to be higher or lower, helping us understand typical balance patterns and possible outliers.</a:t>
            </a:r>
            <a:endParaRPr lang="en-IN" sz="1400" dirty="0"/>
          </a:p>
        </p:txBody>
      </p:sp>
      <p:sp>
        <p:nvSpPr>
          <p:cNvPr id="9" name="TextBox 8">
            <a:extLst>
              <a:ext uri="{FF2B5EF4-FFF2-40B4-BE49-F238E27FC236}">
                <a16:creationId xmlns:a16="http://schemas.microsoft.com/office/drawing/2014/main" id="{D155380B-9C72-ACA0-47C3-774D911477CC}"/>
              </a:ext>
            </a:extLst>
          </p:cNvPr>
          <p:cNvSpPr txBox="1"/>
          <p:nvPr/>
        </p:nvSpPr>
        <p:spPr>
          <a:xfrm>
            <a:off x="6394515" y="493424"/>
            <a:ext cx="5429839" cy="1384995"/>
          </a:xfrm>
          <a:prstGeom prst="rect">
            <a:avLst/>
          </a:prstGeom>
          <a:noFill/>
        </p:spPr>
        <p:txBody>
          <a:bodyPr wrap="square" rtlCol="0">
            <a:spAutoFit/>
          </a:bodyPr>
          <a:lstStyle/>
          <a:p>
            <a:r>
              <a:rPr lang="en-US" sz="1400" dirty="0"/>
              <a:t>This univariate analysis of </a:t>
            </a:r>
            <a:r>
              <a:rPr lang="en-US" sz="1400" b="1" dirty="0"/>
              <a:t>`age` </a:t>
            </a:r>
            <a:r>
              <a:rPr lang="en-US" sz="1400" dirty="0"/>
              <a:t>shows the frequency of different age groups. The histogram and KDE curve reveal the age distribution shape, with peaks indicating common age ranges. The spread reflects age diversity, while any skewness suggests whether the population leans younger or older, helping us identify typical and less common ages in the dataset.</a:t>
            </a:r>
            <a:endParaRPr lang="en-IN" sz="1400" dirty="0"/>
          </a:p>
        </p:txBody>
      </p:sp>
    </p:spTree>
    <p:extLst>
      <p:ext uri="{BB962C8B-B14F-4D97-AF65-F5344CB8AC3E}">
        <p14:creationId xmlns:p14="http://schemas.microsoft.com/office/powerpoint/2010/main" val="2680757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21A4-22ED-1C18-9850-CF8E8AB85EB3}"/>
              </a:ext>
            </a:extLst>
          </p:cNvPr>
          <p:cNvSpPr>
            <a:spLocks noGrp="1"/>
          </p:cNvSpPr>
          <p:nvPr>
            <p:ph type="title"/>
          </p:nvPr>
        </p:nvSpPr>
        <p:spPr>
          <a:xfrm>
            <a:off x="-2358" y="-221238"/>
            <a:ext cx="10515600" cy="942814"/>
          </a:xfrm>
        </p:spPr>
        <p:txBody>
          <a:bodyPr/>
          <a:lstStyle/>
          <a:p>
            <a:r>
              <a:rPr lang="en-US" dirty="0"/>
              <a:t>Bivariate Analysis</a:t>
            </a:r>
            <a:endParaRPr lang="en-IN" dirty="0"/>
          </a:p>
        </p:txBody>
      </p:sp>
      <p:sp>
        <p:nvSpPr>
          <p:cNvPr id="3" name="Slide Number Placeholder 2">
            <a:extLst>
              <a:ext uri="{FF2B5EF4-FFF2-40B4-BE49-F238E27FC236}">
                <a16:creationId xmlns:a16="http://schemas.microsoft.com/office/drawing/2014/main" id="{85EE5B0D-997A-1CD6-5F33-88C8E355F238}"/>
              </a:ext>
            </a:extLst>
          </p:cNvPr>
          <p:cNvSpPr>
            <a:spLocks noGrp="1"/>
          </p:cNvSpPr>
          <p:nvPr>
            <p:ph type="sldNum" sz="quarter" idx="12"/>
          </p:nvPr>
        </p:nvSpPr>
        <p:spPr/>
        <p:txBody>
          <a:bodyPr/>
          <a:lstStyle/>
          <a:p>
            <a:fld id="{1EDEEB96-EEF2-A041-AEC4-04121E2F9632}" type="slidenum">
              <a:rPr lang="en-US" smtClean="0"/>
              <a:t>9</a:t>
            </a:fld>
            <a:endParaRPr lang="en-US"/>
          </a:p>
        </p:txBody>
      </p:sp>
      <p:pic>
        <p:nvPicPr>
          <p:cNvPr id="5" name="Picture 4">
            <a:extLst>
              <a:ext uri="{FF2B5EF4-FFF2-40B4-BE49-F238E27FC236}">
                <a16:creationId xmlns:a16="http://schemas.microsoft.com/office/drawing/2014/main" id="{C7C04BC2-969F-B578-46D4-2484B28ECFF0}"/>
              </a:ext>
            </a:extLst>
          </p:cNvPr>
          <p:cNvPicPr>
            <a:picLocks noChangeAspect="1"/>
          </p:cNvPicPr>
          <p:nvPr/>
        </p:nvPicPr>
        <p:blipFill>
          <a:blip r:embed="rId2"/>
          <a:stretch>
            <a:fillRect/>
          </a:stretch>
        </p:blipFill>
        <p:spPr>
          <a:xfrm>
            <a:off x="-2358" y="2069768"/>
            <a:ext cx="5940369" cy="4032974"/>
          </a:xfrm>
          <a:prstGeom prst="rect">
            <a:avLst/>
          </a:prstGeom>
        </p:spPr>
      </p:pic>
      <p:pic>
        <p:nvPicPr>
          <p:cNvPr id="7" name="Picture 6">
            <a:extLst>
              <a:ext uri="{FF2B5EF4-FFF2-40B4-BE49-F238E27FC236}">
                <a16:creationId xmlns:a16="http://schemas.microsoft.com/office/drawing/2014/main" id="{C0F436D4-BB36-1DE1-3356-C6BED8898E0F}"/>
              </a:ext>
            </a:extLst>
          </p:cNvPr>
          <p:cNvPicPr>
            <a:picLocks noChangeAspect="1"/>
          </p:cNvPicPr>
          <p:nvPr/>
        </p:nvPicPr>
        <p:blipFill>
          <a:blip r:embed="rId3"/>
          <a:stretch>
            <a:fillRect/>
          </a:stretch>
        </p:blipFill>
        <p:spPr>
          <a:xfrm>
            <a:off x="6096001" y="2069768"/>
            <a:ext cx="6096000" cy="4032974"/>
          </a:xfrm>
          <a:prstGeom prst="rect">
            <a:avLst/>
          </a:prstGeom>
        </p:spPr>
      </p:pic>
      <p:sp>
        <p:nvSpPr>
          <p:cNvPr id="8" name="TextBox 7">
            <a:extLst>
              <a:ext uri="{FF2B5EF4-FFF2-40B4-BE49-F238E27FC236}">
                <a16:creationId xmlns:a16="http://schemas.microsoft.com/office/drawing/2014/main" id="{AD4E45E6-44FA-F52A-0A14-E133A6926364}"/>
              </a:ext>
            </a:extLst>
          </p:cNvPr>
          <p:cNvSpPr txBox="1"/>
          <p:nvPr/>
        </p:nvSpPr>
        <p:spPr>
          <a:xfrm>
            <a:off x="0" y="747041"/>
            <a:ext cx="5618376" cy="1169551"/>
          </a:xfrm>
          <a:prstGeom prst="rect">
            <a:avLst/>
          </a:prstGeom>
          <a:noFill/>
        </p:spPr>
        <p:txBody>
          <a:bodyPr wrap="square" rtlCol="0">
            <a:spAutoFit/>
          </a:bodyPr>
          <a:lstStyle/>
          <a:p>
            <a:r>
              <a:rPr lang="en-US" sz="1400" dirty="0"/>
              <a:t>This scatter plot of </a:t>
            </a:r>
            <a:r>
              <a:rPr lang="en-US" sz="1400" b="1" dirty="0"/>
              <a:t>`age` vs. `balance`</a:t>
            </a:r>
            <a:r>
              <a:rPr lang="en-US" sz="1400" dirty="0"/>
              <a:t> shows the relationship between age and account balance. Each point represents a person's age and balance, with any visible trend or clustering suggesting patterns, like whether certain age groups tend to have higher or lower balances. Outliers or gaps may indicate unusual age-balance combinations.</a:t>
            </a:r>
            <a:endParaRPr lang="en-IN" sz="1400" dirty="0"/>
          </a:p>
        </p:txBody>
      </p:sp>
      <p:sp>
        <p:nvSpPr>
          <p:cNvPr id="9" name="TextBox 8">
            <a:extLst>
              <a:ext uri="{FF2B5EF4-FFF2-40B4-BE49-F238E27FC236}">
                <a16:creationId xmlns:a16="http://schemas.microsoft.com/office/drawing/2014/main" id="{17AD6A8E-9818-9EE6-6752-3DB510163AB5}"/>
              </a:ext>
            </a:extLst>
          </p:cNvPr>
          <p:cNvSpPr txBox="1"/>
          <p:nvPr/>
        </p:nvSpPr>
        <p:spPr>
          <a:xfrm>
            <a:off x="6275549" y="755258"/>
            <a:ext cx="5618376" cy="1169551"/>
          </a:xfrm>
          <a:prstGeom prst="rect">
            <a:avLst/>
          </a:prstGeom>
          <a:noFill/>
        </p:spPr>
        <p:txBody>
          <a:bodyPr wrap="square" rtlCol="0">
            <a:spAutoFit/>
          </a:bodyPr>
          <a:lstStyle/>
          <a:p>
            <a:r>
              <a:rPr lang="en-US" sz="1400" dirty="0"/>
              <a:t>This scatter plot of </a:t>
            </a:r>
            <a:r>
              <a:rPr lang="en-US" sz="1400" b="1" dirty="0"/>
              <a:t>`duration` vs. `balance` </a:t>
            </a:r>
            <a:r>
              <a:rPr lang="en-US" sz="1400" dirty="0"/>
              <a:t>highlights the relationship between call duration and account balance. Each point shows an individual's call duration and balance, with any patterns or trends indicating if longer calls relate to higher or lower balances. Outliers may represent unusually high or low balances for specific call durations.</a:t>
            </a:r>
            <a:endParaRPr lang="en-IN" sz="1400" dirty="0"/>
          </a:p>
        </p:txBody>
      </p:sp>
    </p:spTree>
    <p:extLst>
      <p:ext uri="{BB962C8B-B14F-4D97-AF65-F5344CB8AC3E}">
        <p14:creationId xmlns:p14="http://schemas.microsoft.com/office/powerpoint/2010/main" val="1897170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38E66-5B58-E181-2874-C211D435C5DF}"/>
              </a:ext>
            </a:extLst>
          </p:cNvPr>
          <p:cNvSpPr>
            <a:spLocks noGrp="1"/>
          </p:cNvSpPr>
          <p:nvPr>
            <p:ph type="title"/>
          </p:nvPr>
        </p:nvSpPr>
        <p:spPr>
          <a:xfrm>
            <a:off x="-32994" y="-208711"/>
            <a:ext cx="10515600" cy="942814"/>
          </a:xfrm>
        </p:spPr>
        <p:txBody>
          <a:bodyPr/>
          <a:lstStyle/>
          <a:p>
            <a:r>
              <a:rPr lang="en-US" dirty="0"/>
              <a:t>Multivariate Analysis</a:t>
            </a:r>
            <a:endParaRPr lang="en-IN" dirty="0"/>
          </a:p>
        </p:txBody>
      </p:sp>
      <p:sp>
        <p:nvSpPr>
          <p:cNvPr id="3" name="Slide Number Placeholder 2">
            <a:extLst>
              <a:ext uri="{FF2B5EF4-FFF2-40B4-BE49-F238E27FC236}">
                <a16:creationId xmlns:a16="http://schemas.microsoft.com/office/drawing/2014/main" id="{60E24CE1-59F2-1F7E-310B-61F8B234344E}"/>
              </a:ext>
            </a:extLst>
          </p:cNvPr>
          <p:cNvSpPr>
            <a:spLocks noGrp="1"/>
          </p:cNvSpPr>
          <p:nvPr>
            <p:ph type="sldNum" sz="quarter" idx="12"/>
          </p:nvPr>
        </p:nvSpPr>
        <p:spPr/>
        <p:txBody>
          <a:bodyPr/>
          <a:lstStyle/>
          <a:p>
            <a:fld id="{1EDEEB96-EEF2-A041-AEC4-04121E2F9632}" type="slidenum">
              <a:rPr lang="en-US" smtClean="0"/>
              <a:t>10</a:t>
            </a:fld>
            <a:endParaRPr lang="en-US"/>
          </a:p>
        </p:txBody>
      </p:sp>
      <p:pic>
        <p:nvPicPr>
          <p:cNvPr id="5" name="Picture 4">
            <a:extLst>
              <a:ext uri="{FF2B5EF4-FFF2-40B4-BE49-F238E27FC236}">
                <a16:creationId xmlns:a16="http://schemas.microsoft.com/office/drawing/2014/main" id="{C591533D-E39C-F4CE-EFC2-A1A8176D1DCD}"/>
              </a:ext>
            </a:extLst>
          </p:cNvPr>
          <p:cNvPicPr>
            <a:picLocks noChangeAspect="1"/>
          </p:cNvPicPr>
          <p:nvPr/>
        </p:nvPicPr>
        <p:blipFill>
          <a:blip r:embed="rId2"/>
          <a:stretch>
            <a:fillRect/>
          </a:stretch>
        </p:blipFill>
        <p:spPr>
          <a:xfrm>
            <a:off x="-32994" y="832422"/>
            <a:ext cx="6344242" cy="1590897"/>
          </a:xfrm>
          <a:prstGeom prst="rect">
            <a:avLst/>
          </a:prstGeom>
        </p:spPr>
      </p:pic>
      <p:pic>
        <p:nvPicPr>
          <p:cNvPr id="7" name="Picture 6">
            <a:extLst>
              <a:ext uri="{FF2B5EF4-FFF2-40B4-BE49-F238E27FC236}">
                <a16:creationId xmlns:a16="http://schemas.microsoft.com/office/drawing/2014/main" id="{25C9972B-64E4-86DE-381C-1F8DD6452FFA}"/>
              </a:ext>
            </a:extLst>
          </p:cNvPr>
          <p:cNvPicPr>
            <a:picLocks noChangeAspect="1"/>
          </p:cNvPicPr>
          <p:nvPr/>
        </p:nvPicPr>
        <p:blipFill>
          <a:blip r:embed="rId3"/>
          <a:stretch>
            <a:fillRect/>
          </a:stretch>
        </p:blipFill>
        <p:spPr>
          <a:xfrm>
            <a:off x="6420783" y="854215"/>
            <a:ext cx="5681660" cy="4781961"/>
          </a:xfrm>
          <a:prstGeom prst="rect">
            <a:avLst/>
          </a:prstGeom>
        </p:spPr>
      </p:pic>
      <p:sp>
        <p:nvSpPr>
          <p:cNvPr id="8" name="TextBox 7">
            <a:extLst>
              <a:ext uri="{FF2B5EF4-FFF2-40B4-BE49-F238E27FC236}">
                <a16:creationId xmlns:a16="http://schemas.microsoft.com/office/drawing/2014/main" id="{80D4040B-D243-A7BB-B7B5-A45064584C5A}"/>
              </a:ext>
            </a:extLst>
          </p:cNvPr>
          <p:cNvSpPr txBox="1"/>
          <p:nvPr/>
        </p:nvSpPr>
        <p:spPr>
          <a:xfrm>
            <a:off x="1000813" y="496201"/>
            <a:ext cx="4589282"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t>CORRELATION HEATMAP</a:t>
            </a:r>
            <a:endParaRPr lang="en-IN" dirty="0"/>
          </a:p>
        </p:txBody>
      </p:sp>
      <p:sp>
        <p:nvSpPr>
          <p:cNvPr id="12" name="Rectangle 3">
            <a:extLst>
              <a:ext uri="{FF2B5EF4-FFF2-40B4-BE49-F238E27FC236}">
                <a16:creationId xmlns:a16="http://schemas.microsoft.com/office/drawing/2014/main" id="{173C369C-A17E-1282-52FB-A6EBEBC217D1}"/>
              </a:ext>
            </a:extLst>
          </p:cNvPr>
          <p:cNvSpPr>
            <a:spLocks noChangeArrowheads="1"/>
          </p:cNvSpPr>
          <p:nvPr/>
        </p:nvSpPr>
        <p:spPr bwMode="auto">
          <a:xfrm>
            <a:off x="1" y="3624261"/>
            <a:ext cx="62782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0467655F-8B46-FB8F-14CF-9664EB399B90}"/>
              </a:ext>
            </a:extLst>
          </p:cNvPr>
          <p:cNvSpPr txBox="1"/>
          <p:nvPr/>
        </p:nvSpPr>
        <p:spPr>
          <a:xfrm>
            <a:off x="89557" y="2587465"/>
            <a:ext cx="6188696"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Correlation Heatmap</a:t>
            </a:r>
            <a:r>
              <a:rPr kumimoji="0" lang="en-US" altLang="en-US" sz="1800" b="0" i="0" u="none" strike="noStrike" cap="none" normalizeH="0" baseline="0" dirty="0">
                <a:ln>
                  <a:noFill/>
                </a:ln>
                <a:solidFill>
                  <a:schemeClr val="tx1"/>
                </a:solidFill>
                <a:effectLst/>
                <a:latin typeface="Arial" panose="020B0604020202020204" pitchFamily="34" charset="0"/>
              </a:rPr>
              <a:t>: Visualizes the relationships between numerical variables.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Color Scale</a:t>
            </a:r>
            <a:r>
              <a:rPr kumimoji="0" lang="en-US" altLang="en-US" sz="1800" b="0" i="0" u="none" strike="noStrike" cap="none" normalizeH="0" baseline="0" dirty="0">
                <a:ln>
                  <a:noFill/>
                </a:ln>
                <a:solidFill>
                  <a:schemeClr val="tx1"/>
                </a:solidFill>
                <a:effectLst/>
                <a:latin typeface="Arial" panose="020B0604020202020204" pitchFamily="34" charset="0"/>
              </a:rPr>
              <a:t>: Colors indicate correlation strength and direction; warmer colors show positive, cooler colors show negative correlations.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Annotations</a:t>
            </a:r>
            <a:r>
              <a:rPr kumimoji="0" lang="en-US" altLang="en-US" sz="1800" b="0" i="0" u="none" strike="noStrike" cap="none" normalizeH="0" baseline="0" dirty="0">
                <a:ln>
                  <a:noFill/>
                </a:ln>
                <a:solidFill>
                  <a:schemeClr val="tx1"/>
                </a:solidFill>
                <a:effectLst/>
                <a:latin typeface="Arial" panose="020B0604020202020204" pitchFamily="34" charset="0"/>
              </a:rPr>
              <a:t>: Each cell shows the correlation coefficient, highlighting specific variable pairs with strong correlations.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Diagonal</a:t>
            </a:r>
            <a:r>
              <a:rPr kumimoji="0" lang="en-US" altLang="en-US" sz="1800" b="0" i="0" u="none" strike="noStrike" cap="none" normalizeH="0" baseline="0" dirty="0">
                <a:ln>
                  <a:noFill/>
                </a:ln>
                <a:solidFill>
                  <a:schemeClr val="tx1"/>
                </a:solidFill>
                <a:effectLst/>
                <a:latin typeface="Arial" panose="020B0604020202020204" pitchFamily="34" charset="0"/>
              </a:rPr>
              <a:t>: The diagonal is always 1, as each variable is perfectly correlated with itself.</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r>
              <a:rPr kumimoji="0" lang="en-US" altLang="en-US" sz="1800" b="0" i="0" u="none" strike="noStrike" cap="none" normalizeH="0" baseline="0" dirty="0">
                <a:ln>
                  <a:noFill/>
                </a:ln>
                <a:solidFill>
                  <a:schemeClr val="tx1"/>
                </a:solidFill>
                <a:effectLst/>
                <a:latin typeface="Arial" panose="020B0604020202020204" pitchFamily="34" charset="0"/>
              </a:rPr>
              <a:t>: Helps identify which variables are strongly related (positively or negatively), guiding feature selection and deeper analysis.</a:t>
            </a:r>
          </a:p>
        </p:txBody>
      </p:sp>
    </p:spTree>
    <p:extLst>
      <p:ext uri="{BB962C8B-B14F-4D97-AF65-F5344CB8AC3E}">
        <p14:creationId xmlns:p14="http://schemas.microsoft.com/office/powerpoint/2010/main" val="2855248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8E75-C900-781D-2180-FE8D6823C63B}"/>
              </a:ext>
            </a:extLst>
          </p:cNvPr>
          <p:cNvSpPr>
            <a:spLocks noGrp="1"/>
          </p:cNvSpPr>
          <p:nvPr>
            <p:ph type="title"/>
          </p:nvPr>
        </p:nvSpPr>
        <p:spPr>
          <a:xfrm>
            <a:off x="0" y="-231193"/>
            <a:ext cx="10515600" cy="942814"/>
          </a:xfrm>
        </p:spPr>
        <p:txBody>
          <a:bodyPr/>
          <a:lstStyle/>
          <a:p>
            <a:r>
              <a:rPr lang="en-US" dirty="0"/>
              <a:t>Multivariate Analysis</a:t>
            </a:r>
            <a:endParaRPr lang="en-IN" dirty="0"/>
          </a:p>
        </p:txBody>
      </p:sp>
      <p:sp>
        <p:nvSpPr>
          <p:cNvPr id="3" name="Slide Number Placeholder 2">
            <a:extLst>
              <a:ext uri="{FF2B5EF4-FFF2-40B4-BE49-F238E27FC236}">
                <a16:creationId xmlns:a16="http://schemas.microsoft.com/office/drawing/2014/main" id="{67090BD2-ECFD-FB38-96EC-60EAA4D0DCAB}"/>
              </a:ext>
            </a:extLst>
          </p:cNvPr>
          <p:cNvSpPr>
            <a:spLocks noGrp="1"/>
          </p:cNvSpPr>
          <p:nvPr>
            <p:ph type="sldNum" sz="quarter" idx="12"/>
          </p:nvPr>
        </p:nvSpPr>
        <p:spPr/>
        <p:txBody>
          <a:bodyPr/>
          <a:lstStyle/>
          <a:p>
            <a:fld id="{1EDEEB96-EEF2-A041-AEC4-04121E2F9632}" type="slidenum">
              <a:rPr lang="en-US" smtClean="0"/>
              <a:t>11</a:t>
            </a:fld>
            <a:endParaRPr lang="en-US"/>
          </a:p>
        </p:txBody>
      </p:sp>
      <p:sp>
        <p:nvSpPr>
          <p:cNvPr id="4" name="TextBox 3">
            <a:extLst>
              <a:ext uri="{FF2B5EF4-FFF2-40B4-BE49-F238E27FC236}">
                <a16:creationId xmlns:a16="http://schemas.microsoft.com/office/drawing/2014/main" id="{943F1D1E-8AD4-9EF8-45BD-545B0DFCE104}"/>
              </a:ext>
            </a:extLst>
          </p:cNvPr>
          <p:cNvSpPr txBox="1"/>
          <p:nvPr/>
        </p:nvSpPr>
        <p:spPr>
          <a:xfrm>
            <a:off x="386499" y="516575"/>
            <a:ext cx="4703975"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t>PAIR PLOT OF SELECTED NUMERIC FEATURES</a:t>
            </a:r>
            <a:endParaRPr lang="en-IN" dirty="0"/>
          </a:p>
        </p:txBody>
      </p:sp>
      <p:pic>
        <p:nvPicPr>
          <p:cNvPr id="6" name="Picture 5">
            <a:extLst>
              <a:ext uri="{FF2B5EF4-FFF2-40B4-BE49-F238E27FC236}">
                <a16:creationId xmlns:a16="http://schemas.microsoft.com/office/drawing/2014/main" id="{6D6CAC91-893E-9DE5-AC31-379579C3ED3E}"/>
              </a:ext>
            </a:extLst>
          </p:cNvPr>
          <p:cNvPicPr>
            <a:picLocks noChangeAspect="1"/>
          </p:cNvPicPr>
          <p:nvPr/>
        </p:nvPicPr>
        <p:blipFill>
          <a:blip r:embed="rId2"/>
          <a:stretch>
            <a:fillRect/>
          </a:stretch>
        </p:blipFill>
        <p:spPr>
          <a:xfrm>
            <a:off x="6300250" y="625263"/>
            <a:ext cx="5728684" cy="5407319"/>
          </a:xfrm>
          <a:prstGeom prst="rect">
            <a:avLst/>
          </a:prstGeom>
        </p:spPr>
      </p:pic>
      <p:pic>
        <p:nvPicPr>
          <p:cNvPr id="8" name="Picture 7">
            <a:extLst>
              <a:ext uri="{FF2B5EF4-FFF2-40B4-BE49-F238E27FC236}">
                <a16:creationId xmlns:a16="http://schemas.microsoft.com/office/drawing/2014/main" id="{C1F9978F-FCDF-3343-83CD-718CCDA517B5}"/>
              </a:ext>
            </a:extLst>
          </p:cNvPr>
          <p:cNvPicPr>
            <a:picLocks noChangeAspect="1"/>
          </p:cNvPicPr>
          <p:nvPr/>
        </p:nvPicPr>
        <p:blipFill>
          <a:blip r:embed="rId3"/>
          <a:stretch>
            <a:fillRect/>
          </a:stretch>
        </p:blipFill>
        <p:spPr>
          <a:xfrm>
            <a:off x="19183" y="1014852"/>
            <a:ext cx="6076817" cy="639665"/>
          </a:xfrm>
          <a:prstGeom prst="rect">
            <a:avLst/>
          </a:prstGeom>
        </p:spPr>
      </p:pic>
      <p:sp>
        <p:nvSpPr>
          <p:cNvPr id="9" name="TextBox 8">
            <a:extLst>
              <a:ext uri="{FF2B5EF4-FFF2-40B4-BE49-F238E27FC236}">
                <a16:creationId xmlns:a16="http://schemas.microsoft.com/office/drawing/2014/main" id="{D30489C2-A4ED-9726-50F8-1578EDBD053F}"/>
              </a:ext>
            </a:extLst>
          </p:cNvPr>
          <p:cNvSpPr txBox="1"/>
          <p:nvPr/>
        </p:nvSpPr>
        <p:spPr>
          <a:xfrm>
            <a:off x="0" y="2026763"/>
            <a:ext cx="6004874" cy="4278094"/>
          </a:xfrm>
          <a:prstGeom prst="rect">
            <a:avLst/>
          </a:prstGeom>
          <a:noFill/>
        </p:spPr>
        <p:txBody>
          <a:bodyPr wrap="square" rtlCol="0">
            <a:spAutoFit/>
          </a:bodyPr>
          <a:lstStyle/>
          <a:p>
            <a:pPr algn="l"/>
            <a:r>
              <a:rPr lang="en-US" sz="1600" b="1" i="0" dirty="0">
                <a:effectLst/>
                <a:latin typeface="var(--jp-content-font-family)"/>
              </a:rPr>
              <a:t>Insights from the above steps</a:t>
            </a:r>
          </a:p>
          <a:p>
            <a:pPr algn="l">
              <a:buFont typeface="Arial" panose="020B0604020202020204" pitchFamily="34" charset="0"/>
              <a:buChar char="•"/>
            </a:pPr>
            <a:r>
              <a:rPr lang="en-US" sz="1600" b="1" i="0" dirty="0">
                <a:effectLst/>
                <a:latin typeface="var(--jp-content-font-family)"/>
              </a:rPr>
              <a:t>Age</a:t>
            </a:r>
            <a:r>
              <a:rPr lang="en-US" sz="1600" b="0" i="0" dirty="0">
                <a:effectLst/>
                <a:latin typeface="var(--jp-content-font-family)"/>
              </a:rPr>
              <a:t>: The age distribution is left-skewed, with most clients in older brackets (31-50+). Targeting younger age groups could diversify engagement.</a:t>
            </a:r>
          </a:p>
          <a:p>
            <a:pPr algn="l">
              <a:buFont typeface="Arial" panose="020B0604020202020204" pitchFamily="34" charset="0"/>
              <a:buChar char="•"/>
            </a:pPr>
            <a:r>
              <a:rPr lang="en-US" sz="1600" b="1" i="0" dirty="0">
                <a:effectLst/>
                <a:latin typeface="var(--jp-content-font-family)"/>
              </a:rPr>
              <a:t>Balance</a:t>
            </a:r>
            <a:r>
              <a:rPr lang="en-US" sz="1600" b="0" i="0" dirty="0">
                <a:effectLst/>
                <a:latin typeface="var(--jp-content-font-family)"/>
              </a:rPr>
              <a:t>: Majority have moderate to high balances; the campaign could focus on premium services, while low-balance clients may represent a distinct segment.</a:t>
            </a:r>
          </a:p>
          <a:p>
            <a:pPr algn="l">
              <a:buFont typeface="Arial" panose="020B0604020202020204" pitchFamily="34" charset="0"/>
              <a:buChar char="•"/>
            </a:pPr>
            <a:r>
              <a:rPr lang="en-US" sz="1600" b="1" i="0" dirty="0">
                <a:effectLst/>
                <a:latin typeface="var(--jp-content-font-family)"/>
              </a:rPr>
              <a:t>Contact Duration</a:t>
            </a:r>
            <a:r>
              <a:rPr lang="en-US" sz="1600" b="0" i="0" dirty="0">
                <a:effectLst/>
                <a:latin typeface="var(--jp-content-font-family)"/>
              </a:rPr>
              <a:t>: Long calls dominate, indicating good client engagement. Maintaining engagement length is key; analyzing short calls might offer improvement insights.</a:t>
            </a:r>
          </a:p>
          <a:p>
            <a:pPr algn="l">
              <a:buFont typeface="Arial" panose="020B0604020202020204" pitchFamily="34" charset="0"/>
              <a:buChar char="•"/>
            </a:pPr>
            <a:r>
              <a:rPr lang="en-US" sz="1600" b="1" i="0" dirty="0">
                <a:effectLst/>
                <a:latin typeface="var(--jp-content-font-family)"/>
              </a:rPr>
              <a:t>Campaign Success by Age Group</a:t>
            </a:r>
            <a:r>
              <a:rPr lang="en-US" sz="1600" b="0" i="0" dirty="0">
                <a:effectLst/>
                <a:latin typeface="var(--jp-content-font-family)"/>
              </a:rPr>
              <a:t>: Higher success is noted among older clients. Expanding effective strategies for younger groups could enhance overall results.</a:t>
            </a:r>
          </a:p>
          <a:p>
            <a:pPr algn="l">
              <a:buFont typeface="Arial" panose="020B0604020202020204" pitchFamily="34" charset="0"/>
              <a:buChar char="•"/>
            </a:pPr>
            <a:r>
              <a:rPr lang="en-US" sz="1600" b="1" i="0" dirty="0">
                <a:effectLst/>
                <a:latin typeface="var(--jp-content-font-family)"/>
              </a:rPr>
              <a:t>Implications for Predictive Modeling</a:t>
            </a:r>
            <a:r>
              <a:rPr lang="en-US" sz="1600" b="0" i="0" dirty="0">
                <a:effectLst/>
                <a:latin typeface="var(--jp-content-font-family)"/>
              </a:rPr>
              <a:t>: Skewed features like balance and duration might benefit from transformations (e.g., log or square-root) to improve model performance.</a:t>
            </a:r>
          </a:p>
          <a:p>
            <a:endParaRPr lang="en-IN" sz="1600" dirty="0"/>
          </a:p>
        </p:txBody>
      </p:sp>
    </p:spTree>
    <p:extLst>
      <p:ext uri="{BB962C8B-B14F-4D97-AF65-F5344CB8AC3E}">
        <p14:creationId xmlns:p14="http://schemas.microsoft.com/office/powerpoint/2010/main" val="628206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47F8D-8373-E9EA-5608-0E72942CB4FC}"/>
              </a:ext>
            </a:extLst>
          </p:cNvPr>
          <p:cNvSpPr>
            <a:spLocks noGrp="1"/>
          </p:cNvSpPr>
          <p:nvPr>
            <p:ph type="title"/>
          </p:nvPr>
        </p:nvSpPr>
        <p:spPr>
          <a:xfrm>
            <a:off x="0" y="-186665"/>
            <a:ext cx="10515600" cy="942814"/>
          </a:xfrm>
        </p:spPr>
        <p:txBody>
          <a:bodyPr/>
          <a:lstStyle/>
          <a:p>
            <a:r>
              <a:rPr lang="en-US" dirty="0"/>
              <a:t>Hypothesis Testing</a:t>
            </a:r>
            <a:endParaRPr lang="en-IN" dirty="0"/>
          </a:p>
        </p:txBody>
      </p:sp>
      <p:sp>
        <p:nvSpPr>
          <p:cNvPr id="3" name="Slide Number Placeholder 2">
            <a:extLst>
              <a:ext uri="{FF2B5EF4-FFF2-40B4-BE49-F238E27FC236}">
                <a16:creationId xmlns:a16="http://schemas.microsoft.com/office/drawing/2014/main" id="{BB8498D5-B188-B8C5-9F69-9B35B987E728}"/>
              </a:ext>
            </a:extLst>
          </p:cNvPr>
          <p:cNvSpPr>
            <a:spLocks noGrp="1"/>
          </p:cNvSpPr>
          <p:nvPr>
            <p:ph type="sldNum" sz="quarter" idx="12"/>
          </p:nvPr>
        </p:nvSpPr>
        <p:spPr/>
        <p:txBody>
          <a:bodyPr/>
          <a:lstStyle/>
          <a:p>
            <a:fld id="{1EDEEB96-EEF2-A041-AEC4-04121E2F9632}" type="slidenum">
              <a:rPr lang="en-US" smtClean="0"/>
              <a:t>12</a:t>
            </a:fld>
            <a:endParaRPr lang="en-US"/>
          </a:p>
        </p:txBody>
      </p:sp>
      <p:pic>
        <p:nvPicPr>
          <p:cNvPr id="5" name="Picture 4">
            <a:extLst>
              <a:ext uri="{FF2B5EF4-FFF2-40B4-BE49-F238E27FC236}">
                <a16:creationId xmlns:a16="http://schemas.microsoft.com/office/drawing/2014/main" id="{1D04BC24-FF38-585A-31E9-C519BB20FEA3}"/>
              </a:ext>
            </a:extLst>
          </p:cNvPr>
          <p:cNvPicPr>
            <a:picLocks noChangeAspect="1"/>
          </p:cNvPicPr>
          <p:nvPr/>
        </p:nvPicPr>
        <p:blipFill>
          <a:blip r:embed="rId2"/>
          <a:stretch>
            <a:fillRect/>
          </a:stretch>
        </p:blipFill>
        <p:spPr>
          <a:xfrm>
            <a:off x="75415" y="562150"/>
            <a:ext cx="6122682" cy="1489301"/>
          </a:xfrm>
          <a:prstGeom prst="rect">
            <a:avLst/>
          </a:prstGeom>
        </p:spPr>
      </p:pic>
      <p:pic>
        <p:nvPicPr>
          <p:cNvPr id="7" name="Picture 6">
            <a:extLst>
              <a:ext uri="{FF2B5EF4-FFF2-40B4-BE49-F238E27FC236}">
                <a16:creationId xmlns:a16="http://schemas.microsoft.com/office/drawing/2014/main" id="{CF3C71D8-9CF8-40C9-B378-001D21A6C4A6}"/>
              </a:ext>
            </a:extLst>
          </p:cNvPr>
          <p:cNvPicPr>
            <a:picLocks noChangeAspect="1"/>
          </p:cNvPicPr>
          <p:nvPr/>
        </p:nvPicPr>
        <p:blipFill>
          <a:blip r:embed="rId3"/>
          <a:stretch>
            <a:fillRect/>
          </a:stretch>
        </p:blipFill>
        <p:spPr>
          <a:xfrm>
            <a:off x="150829" y="2600980"/>
            <a:ext cx="7239786" cy="1581371"/>
          </a:xfrm>
          <a:prstGeom prst="rect">
            <a:avLst/>
          </a:prstGeom>
        </p:spPr>
      </p:pic>
      <p:sp>
        <p:nvSpPr>
          <p:cNvPr id="8" name="TextBox 7">
            <a:extLst>
              <a:ext uri="{FF2B5EF4-FFF2-40B4-BE49-F238E27FC236}">
                <a16:creationId xmlns:a16="http://schemas.microsoft.com/office/drawing/2014/main" id="{05B0C20B-42F2-9FA7-D577-3D32FDB5308D}"/>
              </a:ext>
            </a:extLst>
          </p:cNvPr>
          <p:cNvSpPr txBox="1"/>
          <p:nvPr/>
        </p:nvSpPr>
        <p:spPr>
          <a:xfrm>
            <a:off x="6122682" y="503430"/>
            <a:ext cx="6069318" cy="1938992"/>
          </a:xfrm>
          <a:prstGeom prst="rect">
            <a:avLst/>
          </a:prstGeom>
          <a:noFill/>
        </p:spPr>
        <p:txBody>
          <a:bodyPr wrap="square" rtlCol="0">
            <a:spAutoFit/>
          </a:bodyPr>
          <a:lstStyle/>
          <a:p>
            <a:r>
              <a:rPr lang="en-US" sz="1200" b="1" dirty="0"/>
              <a:t>Testing Balance Influence on Campaign Success</a:t>
            </a:r>
          </a:p>
          <a:p>
            <a:r>
              <a:rPr lang="en-US" sz="1200" b="1" dirty="0"/>
              <a:t>Null Hypothesis (H₀): </a:t>
            </a:r>
            <a:r>
              <a:rPr lang="en-US" sz="1200" dirty="0"/>
              <a:t>Customers’ average balance does not differ significantly between those who participated in the campaign successfully and those who didn’t.</a:t>
            </a:r>
          </a:p>
          <a:p>
            <a:r>
              <a:rPr lang="en-US" sz="1200" b="1" dirty="0"/>
              <a:t>Alternative Hypothesis (H₁): </a:t>
            </a:r>
            <a:r>
              <a:rPr lang="en-US" sz="1200" dirty="0"/>
              <a:t>There is a significant difference in the average balance between customers who participated successfully and those who didn’t.</a:t>
            </a:r>
          </a:p>
          <a:p>
            <a:r>
              <a:rPr lang="en-US" sz="1200" dirty="0"/>
              <a:t>Test Type</a:t>
            </a:r>
          </a:p>
          <a:p>
            <a:r>
              <a:rPr lang="en-US" sz="1200" b="1" dirty="0"/>
              <a:t>Two-sample t-test </a:t>
            </a:r>
            <a:r>
              <a:rPr lang="en-US" sz="1200" dirty="0"/>
              <a:t>(independent)</a:t>
            </a:r>
          </a:p>
          <a:p>
            <a:r>
              <a:rPr lang="en-US" sz="1200" b="1" dirty="0"/>
              <a:t>Reason</a:t>
            </a:r>
          </a:p>
          <a:p>
            <a:r>
              <a:rPr lang="en-US" sz="1200" dirty="0"/>
              <a:t>Since balance is a continuous variable, a t-test can assess whether there is a significant difference in the mean balance for customers who had campaign success vs. those who didn’t.</a:t>
            </a:r>
            <a:endParaRPr lang="en-IN" sz="1200" dirty="0"/>
          </a:p>
        </p:txBody>
      </p:sp>
      <p:sp>
        <p:nvSpPr>
          <p:cNvPr id="9" name="TextBox 8">
            <a:extLst>
              <a:ext uri="{FF2B5EF4-FFF2-40B4-BE49-F238E27FC236}">
                <a16:creationId xmlns:a16="http://schemas.microsoft.com/office/drawing/2014/main" id="{CF93B653-5C4B-F7BE-BA5F-CB7E33F88BE3}"/>
              </a:ext>
            </a:extLst>
          </p:cNvPr>
          <p:cNvSpPr txBox="1"/>
          <p:nvPr/>
        </p:nvSpPr>
        <p:spPr>
          <a:xfrm>
            <a:off x="0" y="4240456"/>
            <a:ext cx="11677109" cy="1754326"/>
          </a:xfrm>
          <a:prstGeom prst="rect">
            <a:avLst/>
          </a:prstGeom>
          <a:noFill/>
        </p:spPr>
        <p:txBody>
          <a:bodyPr wrap="square" rtlCol="0">
            <a:spAutoFit/>
          </a:bodyPr>
          <a:lstStyle/>
          <a:p>
            <a:r>
              <a:rPr lang="en-US" sz="1200" b="1" dirty="0"/>
              <a:t>Campaign Success and Customer Balances</a:t>
            </a:r>
          </a:p>
          <a:p>
            <a:r>
              <a:rPr lang="en-US" sz="1200" b="1" dirty="0"/>
              <a:t>Null Hypothesis (H₀): </a:t>
            </a:r>
            <a:r>
              <a:rPr lang="en-US" sz="1200" dirty="0"/>
              <a:t>Balance and campaign success are independent of each other.</a:t>
            </a:r>
          </a:p>
          <a:p>
            <a:r>
              <a:rPr lang="en-US" sz="1200" b="1" dirty="0"/>
              <a:t>Alternative Hypothesis (H₁): </a:t>
            </a:r>
            <a:r>
              <a:rPr lang="en-US" sz="1200" dirty="0"/>
              <a:t>There is an association between balance and campaign success.</a:t>
            </a:r>
          </a:p>
          <a:p>
            <a:r>
              <a:rPr lang="en-US" sz="1200" dirty="0"/>
              <a:t>Test Type</a:t>
            </a:r>
          </a:p>
          <a:p>
            <a:r>
              <a:rPr lang="en-US" sz="1200" b="1" dirty="0"/>
              <a:t>Chi-square test of independence </a:t>
            </a:r>
            <a:r>
              <a:rPr lang="en-US" sz="1200" dirty="0"/>
              <a:t>(if balance is categorized, e.g., low, medium, high)</a:t>
            </a:r>
          </a:p>
          <a:p>
            <a:r>
              <a:rPr lang="en-US" sz="1200" dirty="0"/>
              <a:t>Logistic regression (if predicting the probability of campaign success based on continuous balance values)</a:t>
            </a:r>
          </a:p>
          <a:p>
            <a:r>
              <a:rPr lang="en-US" sz="1200" b="1" dirty="0"/>
              <a:t>Reason</a:t>
            </a:r>
          </a:p>
          <a:p>
            <a:r>
              <a:rPr lang="en-US" sz="1200" dirty="0"/>
              <a:t>If balance is divided into categories, the chi-square test can reveal if there's an association between balance levels and campaign success. Logistic regression would be suitable if the goal is to predict the likelihood of success based on the balance.</a:t>
            </a:r>
            <a:endParaRPr lang="en-IN" sz="1200" dirty="0"/>
          </a:p>
        </p:txBody>
      </p:sp>
      <p:pic>
        <p:nvPicPr>
          <p:cNvPr id="12" name="Picture 11">
            <a:extLst>
              <a:ext uri="{FF2B5EF4-FFF2-40B4-BE49-F238E27FC236}">
                <a16:creationId xmlns:a16="http://schemas.microsoft.com/office/drawing/2014/main" id="{52A18776-1A35-35F7-5024-6AEAF2185AB1}"/>
              </a:ext>
            </a:extLst>
          </p:cNvPr>
          <p:cNvPicPr>
            <a:picLocks noChangeAspect="1"/>
          </p:cNvPicPr>
          <p:nvPr/>
        </p:nvPicPr>
        <p:blipFill>
          <a:blip r:embed="rId4"/>
          <a:stretch>
            <a:fillRect/>
          </a:stretch>
        </p:blipFill>
        <p:spPr>
          <a:xfrm>
            <a:off x="7746985" y="2945852"/>
            <a:ext cx="4146940" cy="2080011"/>
          </a:xfrm>
          <a:prstGeom prst="rect">
            <a:avLst/>
          </a:prstGeom>
        </p:spPr>
      </p:pic>
    </p:spTree>
    <p:extLst>
      <p:ext uri="{BB962C8B-B14F-4D97-AF65-F5344CB8AC3E}">
        <p14:creationId xmlns:p14="http://schemas.microsoft.com/office/powerpoint/2010/main" val="3139194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DA-89B8-8C1F-76C5-EA37038084A1}"/>
              </a:ext>
            </a:extLst>
          </p:cNvPr>
          <p:cNvSpPr>
            <a:spLocks noGrp="1"/>
          </p:cNvSpPr>
          <p:nvPr>
            <p:ph type="title"/>
          </p:nvPr>
        </p:nvSpPr>
        <p:spPr>
          <a:xfrm>
            <a:off x="0" y="-197963"/>
            <a:ext cx="10515600" cy="942814"/>
          </a:xfrm>
        </p:spPr>
        <p:txBody>
          <a:bodyPr/>
          <a:lstStyle/>
          <a:p>
            <a:r>
              <a:rPr lang="en-US" dirty="0"/>
              <a:t>Data Transformation</a:t>
            </a:r>
            <a:endParaRPr lang="en-IN" dirty="0"/>
          </a:p>
        </p:txBody>
      </p:sp>
      <p:sp>
        <p:nvSpPr>
          <p:cNvPr id="3" name="Slide Number Placeholder 2">
            <a:extLst>
              <a:ext uri="{FF2B5EF4-FFF2-40B4-BE49-F238E27FC236}">
                <a16:creationId xmlns:a16="http://schemas.microsoft.com/office/drawing/2014/main" id="{AC20050F-F41A-B2C4-EA0B-B12BE98AE849}"/>
              </a:ext>
            </a:extLst>
          </p:cNvPr>
          <p:cNvSpPr>
            <a:spLocks noGrp="1"/>
          </p:cNvSpPr>
          <p:nvPr>
            <p:ph type="sldNum" sz="quarter" idx="12"/>
          </p:nvPr>
        </p:nvSpPr>
        <p:spPr/>
        <p:txBody>
          <a:bodyPr/>
          <a:lstStyle/>
          <a:p>
            <a:fld id="{1EDEEB96-EEF2-A041-AEC4-04121E2F9632}" type="slidenum">
              <a:rPr lang="en-US" smtClean="0"/>
              <a:t>13</a:t>
            </a:fld>
            <a:endParaRPr lang="en-US"/>
          </a:p>
        </p:txBody>
      </p:sp>
      <p:pic>
        <p:nvPicPr>
          <p:cNvPr id="7" name="Picture 6">
            <a:extLst>
              <a:ext uri="{FF2B5EF4-FFF2-40B4-BE49-F238E27FC236}">
                <a16:creationId xmlns:a16="http://schemas.microsoft.com/office/drawing/2014/main" id="{6672BAC2-4FE7-6F18-2510-F1DDAF19B37D}"/>
              </a:ext>
            </a:extLst>
          </p:cNvPr>
          <p:cNvPicPr>
            <a:picLocks noChangeAspect="1"/>
          </p:cNvPicPr>
          <p:nvPr/>
        </p:nvPicPr>
        <p:blipFill>
          <a:blip r:embed="rId2"/>
          <a:stretch>
            <a:fillRect/>
          </a:stretch>
        </p:blipFill>
        <p:spPr>
          <a:xfrm>
            <a:off x="135461" y="2155595"/>
            <a:ext cx="4810125" cy="1981200"/>
          </a:xfrm>
          <a:prstGeom prst="rect">
            <a:avLst/>
          </a:prstGeom>
        </p:spPr>
      </p:pic>
      <p:sp>
        <p:nvSpPr>
          <p:cNvPr id="8" name="TextBox 7">
            <a:extLst>
              <a:ext uri="{FF2B5EF4-FFF2-40B4-BE49-F238E27FC236}">
                <a16:creationId xmlns:a16="http://schemas.microsoft.com/office/drawing/2014/main" id="{04E4F8D7-8FBF-3C05-B108-83DBA0F85134}"/>
              </a:ext>
            </a:extLst>
          </p:cNvPr>
          <p:cNvSpPr txBox="1"/>
          <p:nvPr/>
        </p:nvSpPr>
        <p:spPr>
          <a:xfrm>
            <a:off x="5081046" y="0"/>
            <a:ext cx="7110953" cy="640175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Data Normalization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Numeric Transformer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The code uses </a:t>
            </a:r>
            <a:r>
              <a:rPr kumimoji="0" lang="en-US" altLang="en-US" sz="1600" b="0" i="0" u="none" strike="noStrike" cap="none" normalizeH="0" baseline="0" dirty="0">
                <a:ln>
                  <a:noFill/>
                </a:ln>
                <a:solidFill>
                  <a:schemeClr val="tx1"/>
                </a:solidFill>
                <a:effectLst/>
                <a:latin typeface="Arial Unicode MS"/>
              </a:rPr>
              <a:t>Pipeline</a:t>
            </a:r>
            <a:r>
              <a:rPr kumimoji="0" lang="en-US" altLang="en-US" sz="1600" b="0" i="0" u="none" strike="noStrike" cap="none" normalizeH="0" baseline="0" dirty="0">
                <a:ln>
                  <a:noFill/>
                </a:ln>
                <a:solidFill>
                  <a:schemeClr val="tx1"/>
                </a:solidFill>
                <a:effectLst/>
              </a:rPr>
              <a:t> to define a numeric transformer that includes a </a:t>
            </a:r>
            <a:r>
              <a:rPr kumimoji="0" lang="en-US" altLang="en-US" sz="1600" b="0" i="0" u="none" strike="noStrike" cap="none" normalizeH="0" baseline="0" dirty="0" err="1">
                <a:ln>
                  <a:noFill/>
                </a:ln>
                <a:solidFill>
                  <a:schemeClr val="tx1"/>
                </a:solidFill>
                <a:effectLst/>
                <a:latin typeface="Arial Unicode MS"/>
              </a:rPr>
              <a:t>StandardScaler</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err="1">
                <a:ln>
                  <a:noFill/>
                </a:ln>
                <a:solidFill>
                  <a:schemeClr val="tx1"/>
                </a:solidFill>
                <a:effectLst/>
                <a:latin typeface="Arial" panose="020B0604020202020204" pitchFamily="34" charset="0"/>
              </a:rPr>
              <a:t>StandardScaler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StandardScaler</a:t>
            </a:r>
            <a:r>
              <a:rPr kumimoji="0" lang="en-US" altLang="en-US" sz="1600" b="0" i="0" u="none" strike="noStrike" cap="none" normalizeH="0" baseline="0" dirty="0">
                <a:ln>
                  <a:noFill/>
                </a:ln>
                <a:solidFill>
                  <a:schemeClr val="tx1"/>
                </a:solidFill>
                <a:effectLst/>
                <a:latin typeface="Arial" panose="020B0604020202020204" pitchFamily="34" charset="0"/>
              </a:rPr>
              <a:t> rescales each numeric feature (like </a:t>
            </a:r>
            <a:r>
              <a:rPr kumimoji="0" lang="en-US" altLang="en-US" sz="1600" b="0" i="0" u="none" strike="noStrike" cap="none" normalizeH="0" baseline="0" dirty="0">
                <a:ln>
                  <a:noFill/>
                </a:ln>
                <a:solidFill>
                  <a:schemeClr val="tx1"/>
                </a:solidFill>
                <a:effectLst/>
                <a:latin typeface="Arial Unicode MS"/>
              </a:rPr>
              <a:t>age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balance</a:t>
            </a:r>
            <a:r>
              <a:rPr kumimoji="0" lang="en-US" altLang="en-US" sz="1600" b="0" i="0" u="none" strike="noStrike" cap="none" normalizeH="0" baseline="0" dirty="0">
                <a:ln>
                  <a:noFill/>
                </a:ln>
                <a:solidFill>
                  <a:schemeClr val="tx1"/>
                </a:solidFill>
                <a:effectLst/>
              </a:rPr>
              <a:t>, etc.) to have a mean of 0 and a standard deviation of 1.</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Pipeline Structure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This pipeline (</a:t>
            </a:r>
            <a:r>
              <a:rPr kumimoji="0" lang="en-US" altLang="en-US" sz="1600" b="0" i="0" u="none" strike="noStrike" cap="none" normalizeH="0" baseline="0" dirty="0" err="1">
                <a:ln>
                  <a:noFill/>
                </a:ln>
                <a:solidFill>
                  <a:schemeClr val="tx1"/>
                </a:solidFill>
                <a:effectLst/>
                <a:latin typeface="Arial Unicode MS"/>
              </a:rPr>
              <a:t>numeric_transformer</a:t>
            </a:r>
            <a:r>
              <a:rPr kumimoji="0" lang="en-US" altLang="en-US" sz="1600" b="0" i="0" u="none" strike="noStrike" cap="none" normalizeH="0" baseline="0" dirty="0">
                <a:ln>
                  <a:noFill/>
                </a:ln>
                <a:solidFill>
                  <a:schemeClr val="tx1"/>
                </a:solidFill>
                <a:effectLst/>
              </a:rPr>
              <a:t>) is applied only to numeric columns.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Purpose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By standardizing, each numeric feature has a consistent scale, making them comparable for model training.</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Usage in </a:t>
            </a:r>
            <a:r>
              <a:rPr kumimoji="0" lang="en-US" altLang="en-US" b="1" i="0" u="none" strike="noStrike" cap="none" normalizeH="0" baseline="0" dirty="0" err="1">
                <a:ln>
                  <a:noFill/>
                </a:ln>
                <a:solidFill>
                  <a:schemeClr val="tx1"/>
                </a:solidFill>
                <a:effectLst/>
                <a:latin typeface="Arial" panose="020B0604020202020204" pitchFamily="34" charset="0"/>
              </a:rPr>
              <a:t>ColumnTransformer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This normalization is applied within </a:t>
            </a:r>
            <a:r>
              <a:rPr kumimoji="0" lang="en-US" altLang="en-US" sz="1600" b="0" i="0" u="none" strike="noStrike" cap="none" normalizeH="0" baseline="0" dirty="0" err="1">
                <a:ln>
                  <a:noFill/>
                </a:ln>
                <a:solidFill>
                  <a:schemeClr val="tx1"/>
                </a:solidFill>
                <a:effectLst/>
                <a:latin typeface="Arial Unicode MS"/>
              </a:rPr>
              <a:t>ColumnTransformer</a:t>
            </a:r>
            <a:r>
              <a:rPr kumimoji="0" lang="en-US" altLang="en-US" sz="1600" b="0" i="0" u="none" strike="noStrike" cap="none" normalizeH="0" baseline="0" dirty="0">
                <a:ln>
                  <a:noFill/>
                </a:ln>
                <a:solidFill>
                  <a:schemeClr val="tx1"/>
                </a:solidFill>
                <a:effectLst/>
              </a:rPr>
              <a:t>, ensuring only numeric columns are transformed.</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One-Hot Encoding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Categorical Transformer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A </a:t>
            </a:r>
            <a:r>
              <a:rPr kumimoji="0" lang="en-US" altLang="en-US" sz="1600" b="0" i="0" u="none" strike="noStrike" cap="none" normalizeH="0" baseline="0" dirty="0">
                <a:ln>
                  <a:noFill/>
                </a:ln>
                <a:solidFill>
                  <a:schemeClr val="tx1"/>
                </a:solidFill>
                <a:effectLst/>
                <a:latin typeface="Arial Unicode MS"/>
              </a:rPr>
              <a:t>Pipeline</a:t>
            </a:r>
            <a:r>
              <a:rPr kumimoji="0" lang="en-US" altLang="en-US" sz="1600" b="0" i="0" u="none" strike="noStrike" cap="none" normalizeH="0" baseline="0" dirty="0">
                <a:ln>
                  <a:noFill/>
                </a:ln>
                <a:solidFill>
                  <a:schemeClr val="tx1"/>
                </a:solidFill>
                <a:effectLst/>
              </a:rPr>
              <a:t> is defined for categorical features, using </a:t>
            </a:r>
            <a:r>
              <a:rPr kumimoji="0" lang="en-US" altLang="en-US" sz="1600" b="0" i="0" u="none" strike="noStrike" cap="none" normalizeH="0" baseline="0" dirty="0" err="1">
                <a:ln>
                  <a:noFill/>
                </a:ln>
                <a:solidFill>
                  <a:schemeClr val="tx1"/>
                </a:solidFill>
                <a:effectLst/>
                <a:latin typeface="Arial Unicode MS"/>
              </a:rPr>
              <a:t>OneHotEncoder</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err="1">
                <a:ln>
                  <a:noFill/>
                </a:ln>
                <a:solidFill>
                  <a:schemeClr val="tx1"/>
                </a:solidFill>
                <a:effectLst/>
                <a:latin typeface="Arial" panose="020B0604020202020204" pitchFamily="34" charset="0"/>
              </a:rPr>
              <a:t>OneHotEncoder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Converts each category in features like </a:t>
            </a:r>
            <a:r>
              <a:rPr kumimoji="0" lang="en-US" altLang="en-US" sz="1600" b="0" i="0" u="none" strike="noStrike" cap="none" normalizeH="0" baseline="0" dirty="0">
                <a:ln>
                  <a:noFill/>
                </a:ln>
                <a:solidFill>
                  <a:schemeClr val="tx1"/>
                </a:solidFill>
                <a:effectLst/>
                <a:latin typeface="Arial Unicode MS"/>
              </a:rPr>
              <a:t>job</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marital</a:t>
            </a:r>
            <a:r>
              <a:rPr kumimoji="0" lang="en-US" altLang="en-US" sz="1600" b="0" i="0" u="none" strike="noStrike" cap="none" normalizeH="0" baseline="0" dirty="0">
                <a:ln>
                  <a:noFill/>
                </a:ln>
                <a:solidFill>
                  <a:schemeClr val="tx1"/>
                </a:solidFill>
                <a:effectLst/>
              </a:rPr>
              <a:t>, etc., into multiple binary columns (1 per unique category).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Handle Unknown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The parameter </a:t>
            </a:r>
            <a:r>
              <a:rPr kumimoji="0" lang="en-US" altLang="en-US" sz="1600" b="0" i="0" u="none" strike="noStrike" cap="none" normalizeH="0" baseline="0" dirty="0" err="1">
                <a:ln>
                  <a:noFill/>
                </a:ln>
                <a:solidFill>
                  <a:schemeClr val="tx1"/>
                </a:solidFill>
                <a:effectLst/>
                <a:latin typeface="Arial Unicode MS"/>
              </a:rPr>
              <a:t>handle_unknown</a:t>
            </a:r>
            <a:r>
              <a:rPr kumimoji="0" lang="en-US" altLang="en-US" sz="1600" b="0" i="0" u="none" strike="noStrike" cap="none" normalizeH="0" baseline="0" dirty="0">
                <a:ln>
                  <a:noFill/>
                </a:ln>
                <a:solidFill>
                  <a:schemeClr val="tx1"/>
                </a:solidFill>
                <a:effectLst/>
                <a:latin typeface="Arial Unicode MS"/>
              </a:rPr>
              <a:t>='ignore'</a:t>
            </a:r>
            <a:r>
              <a:rPr kumimoji="0" lang="en-US" altLang="en-US" sz="1600" b="0" i="0" u="none" strike="noStrike" cap="none" normalizeH="0" baseline="0" dirty="0">
                <a:ln>
                  <a:noFill/>
                </a:ln>
                <a:solidFill>
                  <a:schemeClr val="tx1"/>
                </a:solidFill>
                <a:effectLst/>
              </a:rPr>
              <a:t> ensures unseen categories at test time won’t cause errors.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Purpose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This transformation enables the model to interpret categorical features by converting them into numeric form.</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Usage in </a:t>
            </a:r>
            <a:r>
              <a:rPr kumimoji="0" lang="en-US" altLang="en-US" b="1" i="0" u="none" strike="noStrike" cap="none" normalizeH="0" baseline="0" dirty="0" err="1">
                <a:ln>
                  <a:noFill/>
                </a:ln>
                <a:solidFill>
                  <a:schemeClr val="tx1"/>
                </a:solidFill>
                <a:effectLst/>
                <a:latin typeface="Arial" panose="020B0604020202020204" pitchFamily="34" charset="0"/>
              </a:rPr>
              <a:t>ColumnTransformer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The </a:t>
            </a:r>
            <a:r>
              <a:rPr kumimoji="0" lang="en-US" altLang="en-US" sz="1600" b="0" i="0" u="none" strike="noStrike" cap="none" normalizeH="0" baseline="0" dirty="0" err="1">
                <a:ln>
                  <a:noFill/>
                </a:ln>
                <a:solidFill>
                  <a:schemeClr val="tx1"/>
                </a:solidFill>
                <a:effectLst/>
                <a:latin typeface="Arial Unicode MS"/>
              </a:rPr>
              <a:t>ColumnTransformer</a:t>
            </a:r>
            <a:r>
              <a:rPr kumimoji="0" lang="en-US" altLang="en-US" sz="1600" b="0" i="0" u="none" strike="noStrike" cap="none" normalizeH="0" baseline="0" dirty="0">
                <a:ln>
                  <a:noFill/>
                </a:ln>
                <a:solidFill>
                  <a:schemeClr val="tx1"/>
                </a:solidFill>
                <a:effectLst/>
              </a:rPr>
              <a:t> applies this one-hot encoding only to the specified categorical columns.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1799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CE764-CFFC-1AE3-9204-98C0AE02CE69}"/>
              </a:ext>
            </a:extLst>
          </p:cNvPr>
          <p:cNvSpPr>
            <a:spLocks noGrp="1"/>
          </p:cNvSpPr>
          <p:nvPr>
            <p:ph type="title"/>
          </p:nvPr>
        </p:nvSpPr>
        <p:spPr>
          <a:xfrm>
            <a:off x="0" y="6907"/>
            <a:ext cx="4251489" cy="942814"/>
          </a:xfrm>
        </p:spPr>
        <p:txBody>
          <a:bodyPr/>
          <a:lstStyle/>
          <a:p>
            <a:r>
              <a:rPr lang="en-US" dirty="0"/>
              <a:t>Data Reduction</a:t>
            </a:r>
            <a:endParaRPr lang="en-IN" dirty="0"/>
          </a:p>
        </p:txBody>
      </p:sp>
      <p:sp>
        <p:nvSpPr>
          <p:cNvPr id="3" name="Slide Number Placeholder 2">
            <a:extLst>
              <a:ext uri="{FF2B5EF4-FFF2-40B4-BE49-F238E27FC236}">
                <a16:creationId xmlns:a16="http://schemas.microsoft.com/office/drawing/2014/main" id="{A0A5F322-3EDA-8B06-BBCE-91D67B544E14}"/>
              </a:ext>
            </a:extLst>
          </p:cNvPr>
          <p:cNvSpPr>
            <a:spLocks noGrp="1"/>
          </p:cNvSpPr>
          <p:nvPr>
            <p:ph type="sldNum" sz="quarter" idx="12"/>
          </p:nvPr>
        </p:nvSpPr>
        <p:spPr/>
        <p:txBody>
          <a:bodyPr/>
          <a:lstStyle/>
          <a:p>
            <a:fld id="{1EDEEB96-EEF2-A041-AEC4-04121E2F9632}" type="slidenum">
              <a:rPr lang="en-US" smtClean="0"/>
              <a:t>14</a:t>
            </a:fld>
            <a:endParaRPr lang="en-US"/>
          </a:p>
        </p:txBody>
      </p:sp>
      <p:sp>
        <p:nvSpPr>
          <p:cNvPr id="4" name="Title 1">
            <a:extLst>
              <a:ext uri="{FF2B5EF4-FFF2-40B4-BE49-F238E27FC236}">
                <a16:creationId xmlns:a16="http://schemas.microsoft.com/office/drawing/2014/main" id="{E9786A2E-0BBE-0F2B-163E-428E9254F93B}"/>
              </a:ext>
            </a:extLst>
          </p:cNvPr>
          <p:cNvSpPr txBox="1">
            <a:spLocks/>
          </p:cNvSpPr>
          <p:nvPr/>
        </p:nvSpPr>
        <p:spPr>
          <a:xfrm>
            <a:off x="501193" y="949721"/>
            <a:ext cx="3392078" cy="5679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rgbClr val="214B8C"/>
                </a:solidFill>
                <a:latin typeface="Bookman Old Style" charset="0"/>
                <a:ea typeface="Bookman Old Style" charset="0"/>
                <a:cs typeface="Bookman Old Style" charset="0"/>
              </a:defRPr>
            </a:lvl1pPr>
          </a:lstStyle>
          <a:p>
            <a:endParaRPr lang="en-IN" sz="1400" dirty="0"/>
          </a:p>
        </p:txBody>
      </p:sp>
      <p:sp>
        <p:nvSpPr>
          <p:cNvPr id="5" name="TextBox 4">
            <a:extLst>
              <a:ext uri="{FF2B5EF4-FFF2-40B4-BE49-F238E27FC236}">
                <a16:creationId xmlns:a16="http://schemas.microsoft.com/office/drawing/2014/main" id="{B779DCC6-4F16-F105-84CD-4DBD474E275D}"/>
              </a:ext>
            </a:extLst>
          </p:cNvPr>
          <p:cNvSpPr txBox="1"/>
          <p:nvPr/>
        </p:nvSpPr>
        <p:spPr>
          <a:xfrm>
            <a:off x="501192" y="765057"/>
            <a:ext cx="4589282"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t>RECURSIVE FEATURE ELIMINATION (RFE)</a:t>
            </a:r>
            <a:endParaRPr lang="en-IN" dirty="0"/>
          </a:p>
        </p:txBody>
      </p:sp>
      <p:pic>
        <p:nvPicPr>
          <p:cNvPr id="7" name="Picture 6">
            <a:extLst>
              <a:ext uri="{FF2B5EF4-FFF2-40B4-BE49-F238E27FC236}">
                <a16:creationId xmlns:a16="http://schemas.microsoft.com/office/drawing/2014/main" id="{FD34B060-057C-966E-B2DB-637107533F9B}"/>
              </a:ext>
            </a:extLst>
          </p:cNvPr>
          <p:cNvPicPr>
            <a:picLocks noChangeAspect="1"/>
          </p:cNvPicPr>
          <p:nvPr/>
        </p:nvPicPr>
        <p:blipFill>
          <a:blip r:embed="rId2"/>
          <a:stretch>
            <a:fillRect/>
          </a:stretch>
        </p:blipFill>
        <p:spPr>
          <a:xfrm>
            <a:off x="560817" y="1296547"/>
            <a:ext cx="4470031" cy="2033175"/>
          </a:xfrm>
          <a:prstGeom prst="rect">
            <a:avLst/>
          </a:prstGeom>
        </p:spPr>
      </p:pic>
      <p:pic>
        <p:nvPicPr>
          <p:cNvPr id="9" name="Picture 8">
            <a:extLst>
              <a:ext uri="{FF2B5EF4-FFF2-40B4-BE49-F238E27FC236}">
                <a16:creationId xmlns:a16="http://schemas.microsoft.com/office/drawing/2014/main" id="{FA0F7350-50BC-73C8-010C-3BF3E64A4F1C}"/>
              </a:ext>
            </a:extLst>
          </p:cNvPr>
          <p:cNvPicPr>
            <a:picLocks noChangeAspect="1"/>
          </p:cNvPicPr>
          <p:nvPr/>
        </p:nvPicPr>
        <p:blipFill>
          <a:blip r:embed="rId3"/>
          <a:stretch>
            <a:fillRect/>
          </a:stretch>
        </p:blipFill>
        <p:spPr>
          <a:xfrm>
            <a:off x="5746631" y="765057"/>
            <a:ext cx="5104200" cy="2726823"/>
          </a:xfrm>
          <a:prstGeom prst="rect">
            <a:avLst/>
          </a:prstGeom>
        </p:spPr>
      </p:pic>
      <p:sp>
        <p:nvSpPr>
          <p:cNvPr id="10" name="TextBox 9">
            <a:extLst>
              <a:ext uri="{FF2B5EF4-FFF2-40B4-BE49-F238E27FC236}">
                <a16:creationId xmlns:a16="http://schemas.microsoft.com/office/drawing/2014/main" id="{577D25B6-65F0-54C7-D924-AB2DAFE2034F}"/>
              </a:ext>
            </a:extLst>
          </p:cNvPr>
          <p:cNvSpPr txBox="1"/>
          <p:nvPr/>
        </p:nvSpPr>
        <p:spPr>
          <a:xfrm>
            <a:off x="0" y="3491880"/>
            <a:ext cx="11982450" cy="2031325"/>
          </a:xfrm>
          <a:prstGeom prst="rect">
            <a:avLst/>
          </a:prstGeom>
          <a:noFill/>
        </p:spPr>
        <p:txBody>
          <a:bodyPr wrap="square" rtlCol="0">
            <a:spAutoFit/>
          </a:bodyPr>
          <a:lstStyle/>
          <a:p>
            <a:r>
              <a:rPr lang="en-US" dirty="0"/>
              <a:t>1. </a:t>
            </a:r>
            <a:r>
              <a:rPr lang="en-US" b="1" dirty="0"/>
              <a:t>RFE Setup: </a:t>
            </a:r>
            <a:r>
              <a:rPr lang="en-US" dirty="0"/>
              <a:t>Implements Recursive Feature Elimination (RFE) using Logistic Regression to identify the top 10 most important features.</a:t>
            </a:r>
          </a:p>
          <a:p>
            <a:r>
              <a:rPr lang="en-US" dirty="0"/>
              <a:t>2. </a:t>
            </a:r>
            <a:r>
              <a:rPr lang="en-US" b="1" dirty="0"/>
              <a:t>Feature Selection: </a:t>
            </a:r>
            <a:r>
              <a:rPr lang="en-US" dirty="0"/>
              <a:t>Fits RFE on `</a:t>
            </a:r>
            <a:r>
              <a:rPr lang="en-US" dirty="0" err="1"/>
              <a:t>X_train_processed</a:t>
            </a:r>
            <a:r>
              <a:rPr lang="en-US" dirty="0"/>
              <a:t>` and `</a:t>
            </a:r>
            <a:r>
              <a:rPr lang="en-US" dirty="0" err="1"/>
              <a:t>y_train</a:t>
            </a:r>
            <a:r>
              <a:rPr lang="en-US" dirty="0"/>
              <a:t>`, creating a mask to mark selected features.</a:t>
            </a:r>
          </a:p>
          <a:p>
            <a:r>
              <a:rPr lang="en-US" dirty="0"/>
              <a:t>3. </a:t>
            </a:r>
            <a:r>
              <a:rPr lang="en-US" b="1" dirty="0"/>
              <a:t>Selected Features: </a:t>
            </a:r>
            <a:r>
              <a:rPr lang="en-US" dirty="0"/>
              <a:t>Filters feature names based on the RFE mask, identifying the most relevant features for the model.</a:t>
            </a:r>
          </a:p>
          <a:p>
            <a:r>
              <a:rPr lang="en-US" dirty="0"/>
              <a:t>4. </a:t>
            </a:r>
            <a:r>
              <a:rPr lang="en-US" b="1" dirty="0"/>
              <a:t>Data Reduction: </a:t>
            </a:r>
            <a:r>
              <a:rPr lang="en-US" dirty="0"/>
              <a:t>Transforms `</a:t>
            </a:r>
            <a:r>
              <a:rPr lang="en-US" dirty="0" err="1"/>
              <a:t>X_train_processed</a:t>
            </a:r>
            <a:r>
              <a:rPr lang="en-US" dirty="0"/>
              <a:t>` and `</a:t>
            </a:r>
            <a:r>
              <a:rPr lang="en-US" dirty="0" err="1"/>
              <a:t>X_test_processed</a:t>
            </a:r>
            <a:r>
              <a:rPr lang="en-US" dirty="0"/>
              <a:t>` to retain only the selected features.</a:t>
            </a:r>
          </a:p>
          <a:p>
            <a:r>
              <a:rPr lang="en-US" dirty="0"/>
              <a:t>5. </a:t>
            </a:r>
            <a:r>
              <a:rPr lang="en-US" b="1" dirty="0"/>
              <a:t>Result Preview: </a:t>
            </a:r>
            <a:r>
              <a:rPr lang="en-US" dirty="0"/>
              <a:t>Displays the first few rows of the reduced `</a:t>
            </a:r>
            <a:r>
              <a:rPr lang="en-US" dirty="0" err="1"/>
              <a:t>X_train</a:t>
            </a:r>
            <a:r>
              <a:rPr lang="en-US" dirty="0"/>
              <a:t>` and `</a:t>
            </a:r>
            <a:r>
              <a:rPr lang="en-US" dirty="0" err="1"/>
              <a:t>X_test</a:t>
            </a:r>
            <a:r>
              <a:rPr lang="en-US" dirty="0"/>
              <a:t>` </a:t>
            </a:r>
            <a:r>
              <a:rPr lang="en-US" dirty="0" err="1"/>
              <a:t>DataFrames</a:t>
            </a:r>
            <a:r>
              <a:rPr lang="en-US" dirty="0"/>
              <a:t>, containing only the selected features for training and testing.</a:t>
            </a:r>
            <a:endParaRPr lang="en-IN" dirty="0"/>
          </a:p>
        </p:txBody>
      </p:sp>
    </p:spTree>
    <p:extLst>
      <p:ext uri="{BB962C8B-B14F-4D97-AF65-F5344CB8AC3E}">
        <p14:creationId xmlns:p14="http://schemas.microsoft.com/office/powerpoint/2010/main" val="3059031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1B8D7-1326-72D0-920B-5964DF3BC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532DE-3D96-9474-4EF7-2C7B1EC26786}"/>
              </a:ext>
            </a:extLst>
          </p:cNvPr>
          <p:cNvSpPr>
            <a:spLocks noGrp="1"/>
          </p:cNvSpPr>
          <p:nvPr>
            <p:ph type="title"/>
          </p:nvPr>
        </p:nvSpPr>
        <p:spPr>
          <a:xfrm>
            <a:off x="0" y="-168232"/>
            <a:ext cx="4251489" cy="942814"/>
          </a:xfrm>
        </p:spPr>
        <p:txBody>
          <a:bodyPr/>
          <a:lstStyle/>
          <a:p>
            <a:r>
              <a:rPr lang="en-US" dirty="0"/>
              <a:t>Data Reduction</a:t>
            </a:r>
            <a:endParaRPr lang="en-IN" dirty="0"/>
          </a:p>
        </p:txBody>
      </p:sp>
      <p:sp>
        <p:nvSpPr>
          <p:cNvPr id="3" name="Slide Number Placeholder 2">
            <a:extLst>
              <a:ext uri="{FF2B5EF4-FFF2-40B4-BE49-F238E27FC236}">
                <a16:creationId xmlns:a16="http://schemas.microsoft.com/office/drawing/2014/main" id="{3394F124-A9AD-BCFD-280F-9497577050E2}"/>
              </a:ext>
            </a:extLst>
          </p:cNvPr>
          <p:cNvSpPr>
            <a:spLocks noGrp="1"/>
          </p:cNvSpPr>
          <p:nvPr>
            <p:ph type="sldNum" sz="quarter" idx="12"/>
          </p:nvPr>
        </p:nvSpPr>
        <p:spPr/>
        <p:txBody>
          <a:bodyPr/>
          <a:lstStyle/>
          <a:p>
            <a:fld id="{1EDEEB96-EEF2-A041-AEC4-04121E2F9632}" type="slidenum">
              <a:rPr lang="en-US" smtClean="0"/>
              <a:t>15</a:t>
            </a:fld>
            <a:endParaRPr lang="en-US"/>
          </a:p>
        </p:txBody>
      </p:sp>
      <p:sp>
        <p:nvSpPr>
          <p:cNvPr id="4" name="Title 1">
            <a:extLst>
              <a:ext uri="{FF2B5EF4-FFF2-40B4-BE49-F238E27FC236}">
                <a16:creationId xmlns:a16="http://schemas.microsoft.com/office/drawing/2014/main" id="{F4AEA758-28D9-803C-9355-41FF0D8B4CB4}"/>
              </a:ext>
            </a:extLst>
          </p:cNvPr>
          <p:cNvSpPr txBox="1">
            <a:spLocks/>
          </p:cNvSpPr>
          <p:nvPr/>
        </p:nvSpPr>
        <p:spPr>
          <a:xfrm>
            <a:off x="501193" y="949721"/>
            <a:ext cx="3392078" cy="5679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rgbClr val="214B8C"/>
                </a:solidFill>
                <a:latin typeface="Bookman Old Style" charset="0"/>
                <a:ea typeface="Bookman Old Style" charset="0"/>
                <a:cs typeface="Bookman Old Style" charset="0"/>
              </a:defRPr>
            </a:lvl1pPr>
          </a:lstStyle>
          <a:p>
            <a:endParaRPr lang="en-IN" sz="1400" dirty="0"/>
          </a:p>
        </p:txBody>
      </p:sp>
      <p:sp>
        <p:nvSpPr>
          <p:cNvPr id="5" name="TextBox 4">
            <a:extLst>
              <a:ext uri="{FF2B5EF4-FFF2-40B4-BE49-F238E27FC236}">
                <a16:creationId xmlns:a16="http://schemas.microsoft.com/office/drawing/2014/main" id="{F92569F8-F53E-28AC-CEB7-4D4E5D7CEAC0}"/>
              </a:ext>
            </a:extLst>
          </p:cNvPr>
          <p:cNvSpPr txBox="1"/>
          <p:nvPr/>
        </p:nvSpPr>
        <p:spPr>
          <a:xfrm>
            <a:off x="954517" y="533381"/>
            <a:ext cx="4589282"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t>PRINCIPAL COMPONENT ANALYSIS(PCA)</a:t>
            </a:r>
            <a:endParaRPr lang="en-IN" dirty="0"/>
          </a:p>
        </p:txBody>
      </p:sp>
      <p:pic>
        <p:nvPicPr>
          <p:cNvPr id="8" name="Picture 7">
            <a:extLst>
              <a:ext uri="{FF2B5EF4-FFF2-40B4-BE49-F238E27FC236}">
                <a16:creationId xmlns:a16="http://schemas.microsoft.com/office/drawing/2014/main" id="{02D847B6-CB06-D8B4-4A0A-10C81A1C96F9}"/>
              </a:ext>
            </a:extLst>
          </p:cNvPr>
          <p:cNvPicPr>
            <a:picLocks noChangeAspect="1"/>
          </p:cNvPicPr>
          <p:nvPr/>
        </p:nvPicPr>
        <p:blipFill>
          <a:blip r:embed="rId2"/>
          <a:stretch>
            <a:fillRect/>
          </a:stretch>
        </p:blipFill>
        <p:spPr>
          <a:xfrm>
            <a:off x="564091" y="1030843"/>
            <a:ext cx="5175419" cy="2272558"/>
          </a:xfrm>
          <a:prstGeom prst="rect">
            <a:avLst/>
          </a:prstGeom>
        </p:spPr>
      </p:pic>
      <p:pic>
        <p:nvPicPr>
          <p:cNvPr id="11" name="Picture 10">
            <a:extLst>
              <a:ext uri="{FF2B5EF4-FFF2-40B4-BE49-F238E27FC236}">
                <a16:creationId xmlns:a16="http://schemas.microsoft.com/office/drawing/2014/main" id="{0693EF92-23B7-5B5C-0FCB-1AD8FC1905CB}"/>
              </a:ext>
            </a:extLst>
          </p:cNvPr>
          <p:cNvPicPr>
            <a:picLocks noChangeAspect="1"/>
          </p:cNvPicPr>
          <p:nvPr/>
        </p:nvPicPr>
        <p:blipFill>
          <a:blip r:embed="rId3"/>
          <a:stretch>
            <a:fillRect/>
          </a:stretch>
        </p:blipFill>
        <p:spPr>
          <a:xfrm>
            <a:off x="6195086" y="418367"/>
            <a:ext cx="4821280" cy="2833390"/>
          </a:xfrm>
          <a:prstGeom prst="rect">
            <a:avLst/>
          </a:prstGeom>
        </p:spPr>
      </p:pic>
      <p:sp>
        <p:nvSpPr>
          <p:cNvPr id="15" name="TextBox 14">
            <a:extLst>
              <a:ext uri="{FF2B5EF4-FFF2-40B4-BE49-F238E27FC236}">
                <a16:creationId xmlns:a16="http://schemas.microsoft.com/office/drawing/2014/main" id="{61F27B28-2CFC-A17E-9CA3-75529725C50A}"/>
              </a:ext>
            </a:extLst>
          </p:cNvPr>
          <p:cNvSpPr txBox="1"/>
          <p:nvPr/>
        </p:nvSpPr>
        <p:spPr>
          <a:xfrm>
            <a:off x="-28575" y="3251757"/>
            <a:ext cx="12249150" cy="313932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PCA Transformation</a:t>
            </a:r>
            <a:r>
              <a:rPr kumimoji="0" lang="en-US" altLang="en-US" sz="1800" b="0" i="0" u="none" strike="noStrike" cap="none" normalizeH="0" baseline="0" dirty="0">
                <a:ln>
                  <a:noFill/>
                </a:ln>
                <a:solidFill>
                  <a:schemeClr val="tx1"/>
                </a:solidFill>
                <a:effectLst/>
                <a:latin typeface="Arial" panose="020B0604020202020204" pitchFamily="34" charset="0"/>
              </a:rPr>
              <a:t>: Applies Principal Component Analysis (PCA) to reduce features to 10 principal components, capturing most of the variance.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Fitting and Transforming</a:t>
            </a:r>
            <a:r>
              <a:rPr kumimoji="0" lang="en-US" altLang="en-US" sz="1800" b="0" i="0" u="none" strike="noStrike" cap="none" normalizeH="0" baseline="0" dirty="0">
                <a:ln>
                  <a:noFill/>
                </a:ln>
                <a:solidFill>
                  <a:schemeClr val="tx1"/>
                </a:solidFill>
                <a:effectLst/>
                <a:latin typeface="Arial" panose="020B0604020202020204" pitchFamily="34" charset="0"/>
              </a:rPr>
              <a:t>: Fits PCA on </a:t>
            </a:r>
            <a:r>
              <a:rPr kumimoji="0" lang="en-US" altLang="en-US" b="0" i="0" u="none" strike="noStrike" cap="none" normalizeH="0" baseline="0" dirty="0" err="1">
                <a:ln>
                  <a:noFill/>
                </a:ln>
                <a:solidFill>
                  <a:schemeClr val="tx1"/>
                </a:solidFill>
                <a:effectLst/>
                <a:latin typeface="Arial Unicode MS"/>
              </a:rPr>
              <a:t>X_train_rfe</a:t>
            </a:r>
            <a:r>
              <a:rPr kumimoji="0" lang="en-US" altLang="en-US" b="0" i="0" u="none" strike="noStrike" cap="none" normalizeH="0" baseline="0" dirty="0">
                <a:ln>
                  <a:noFill/>
                </a:ln>
                <a:solidFill>
                  <a:schemeClr val="tx1"/>
                </a:solidFill>
                <a:effectLst/>
              </a:rPr>
              <a:t> (training data) and transforms both </a:t>
            </a:r>
            <a:r>
              <a:rPr kumimoji="0" lang="en-US" altLang="en-US" b="0" i="0" u="none" strike="noStrike" cap="none" normalizeH="0" baseline="0" dirty="0" err="1">
                <a:ln>
                  <a:noFill/>
                </a:ln>
                <a:solidFill>
                  <a:schemeClr val="tx1"/>
                </a:solidFill>
                <a:effectLst/>
                <a:latin typeface="Arial Unicode MS"/>
              </a:rPr>
              <a:t>X_train_rfe</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err="1">
                <a:ln>
                  <a:noFill/>
                </a:ln>
                <a:solidFill>
                  <a:schemeClr val="tx1"/>
                </a:solidFill>
                <a:effectLst/>
                <a:latin typeface="Arial Unicode MS"/>
              </a:rPr>
              <a:t>X_test_rfe</a:t>
            </a:r>
            <a:r>
              <a:rPr kumimoji="0" lang="en-US" altLang="en-US" b="0" i="0" u="none" strike="noStrike" cap="none" normalizeH="0" baseline="0" dirty="0">
                <a:ln>
                  <a:noFill/>
                </a:ln>
                <a:solidFill>
                  <a:schemeClr val="tx1"/>
                </a:solidFill>
                <a:effectLst/>
              </a:rPr>
              <a:t> to lower-dimensional representations.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Component Naming</a:t>
            </a:r>
            <a:r>
              <a:rPr kumimoji="0" lang="en-US" altLang="en-US" sz="1800" b="0" i="0" u="none" strike="noStrike" cap="none" normalizeH="0" baseline="0" dirty="0">
                <a:ln>
                  <a:noFill/>
                </a:ln>
                <a:solidFill>
                  <a:schemeClr val="tx1"/>
                </a:solidFill>
                <a:effectLst/>
                <a:latin typeface="Arial" panose="020B0604020202020204" pitchFamily="34" charset="0"/>
              </a:rPr>
              <a:t>: Creates column names </a:t>
            </a:r>
            <a:r>
              <a:rPr kumimoji="0" lang="en-US" altLang="en-US" b="0" i="0" u="none" strike="noStrike" cap="none" normalizeH="0" baseline="0" dirty="0">
                <a:ln>
                  <a:noFill/>
                </a:ln>
                <a:solidFill>
                  <a:schemeClr val="tx1"/>
                </a:solidFill>
                <a:effectLst/>
                <a:latin typeface="Arial" panose="020B0604020202020204" pitchFamily="34" charset="0"/>
              </a:rPr>
              <a:t>(</a:t>
            </a:r>
            <a:r>
              <a:rPr kumimoji="0" lang="en-US" altLang="en-US" b="0" i="0" u="none" strike="noStrike" cap="none" normalizeH="0" baseline="0" dirty="0">
                <a:ln>
                  <a:noFill/>
                </a:ln>
                <a:solidFill>
                  <a:schemeClr val="tx1"/>
                </a:solidFill>
                <a:effectLst/>
                <a:latin typeface="Arial Unicode MS"/>
              </a:rPr>
              <a:t>PC1</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PC2</a:t>
            </a:r>
            <a:r>
              <a:rPr kumimoji="0" lang="en-US" altLang="en-US" b="0" i="0" u="none" strike="noStrike" cap="none" normalizeH="0" baseline="0" dirty="0">
                <a:ln>
                  <a:noFill/>
                </a:ln>
                <a:solidFill>
                  <a:schemeClr val="tx1"/>
                </a:solidFill>
                <a:effectLst/>
              </a:rPr>
              <a:t>, etc.) for each principal component to label the transformed      data.</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DataFrames</a:t>
            </a:r>
            <a:r>
              <a:rPr kumimoji="0" lang="en-US" altLang="en-US" sz="1800" b="1" i="0" u="none" strike="noStrike" cap="none" normalizeH="0" baseline="0" dirty="0">
                <a:ln>
                  <a:noFill/>
                </a:ln>
                <a:solidFill>
                  <a:schemeClr val="tx1"/>
                </a:solidFill>
                <a:effectLst/>
                <a:latin typeface="Arial" panose="020B0604020202020204" pitchFamily="34" charset="0"/>
              </a:rPr>
              <a:t> for PCA Data</a:t>
            </a:r>
            <a:r>
              <a:rPr kumimoji="0" lang="en-US" altLang="en-US" sz="1800" b="0" i="0" u="none" strike="noStrike" cap="none" normalizeH="0" baseline="0" dirty="0">
                <a:ln>
                  <a:noFill/>
                </a:ln>
                <a:solidFill>
                  <a:schemeClr val="tx1"/>
                </a:solidFill>
                <a:effectLst/>
                <a:latin typeface="Arial" panose="020B0604020202020204" pitchFamily="34" charset="0"/>
              </a:rPr>
              <a:t>: Converts the transformed training and test data into </a:t>
            </a:r>
            <a:r>
              <a:rPr kumimoji="0" lang="en-US" altLang="en-US" sz="1800" b="0" i="0" u="none" strike="noStrike" cap="none" normalizeH="0" baseline="0" dirty="0" err="1">
                <a:ln>
                  <a:noFill/>
                </a:ln>
                <a:solidFill>
                  <a:schemeClr val="tx1"/>
                </a:solidFill>
                <a:effectLst/>
                <a:latin typeface="Arial" panose="020B0604020202020204" pitchFamily="34" charset="0"/>
              </a:rPr>
              <a:t>DataFrames</a:t>
            </a:r>
            <a:r>
              <a:rPr kumimoji="0" lang="en-US" altLang="en-US" sz="1800" b="0" i="0" u="none" strike="noStrike" cap="none" normalizeH="0" baseline="0" dirty="0">
                <a:ln>
                  <a:noFill/>
                </a:ln>
                <a:solidFill>
                  <a:schemeClr val="tx1"/>
                </a:solidFill>
                <a:effectLst/>
                <a:latin typeface="Arial" panose="020B0604020202020204" pitchFamily="34" charset="0"/>
              </a:rPr>
              <a:t> with meaningful column labels for easier 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Result Preview</a:t>
            </a:r>
            <a:r>
              <a:rPr kumimoji="0" lang="en-US" altLang="en-US" sz="1800" b="0" i="0" u="none" strike="noStrike" cap="none" normalizeH="0" baseline="0" dirty="0">
                <a:ln>
                  <a:noFill/>
                </a:ln>
                <a:solidFill>
                  <a:schemeClr val="tx1"/>
                </a:solidFill>
                <a:effectLst/>
                <a:latin typeface="Arial" panose="020B0604020202020204" pitchFamily="34" charset="0"/>
              </a:rPr>
              <a:t>: Displays the first few rows of </a:t>
            </a:r>
            <a:r>
              <a:rPr kumimoji="0" lang="en-US" altLang="en-US" b="0" i="0" u="none" strike="noStrike" cap="none" normalizeH="0" baseline="0" dirty="0" err="1">
                <a:ln>
                  <a:noFill/>
                </a:ln>
                <a:solidFill>
                  <a:schemeClr val="tx1"/>
                </a:solidFill>
                <a:effectLst/>
                <a:latin typeface="Arial Unicode MS"/>
              </a:rPr>
              <a:t>X_train</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err="1">
                <a:ln>
                  <a:noFill/>
                </a:ln>
                <a:solidFill>
                  <a:schemeClr val="tx1"/>
                </a:solidFill>
                <a:effectLst/>
                <a:latin typeface="Arial Unicode MS"/>
              </a:rPr>
              <a:t>X_test</a:t>
            </a:r>
            <a:r>
              <a:rPr kumimoji="0" lang="en-US" altLang="en-US" b="0" i="0" u="none" strike="noStrike" cap="none" normalizeH="0" baseline="0" dirty="0">
                <a:ln>
                  <a:noFill/>
                </a:ln>
                <a:solidFill>
                  <a:schemeClr val="tx1"/>
                </a:solidFill>
                <a:effectLst/>
              </a:rPr>
              <a:t> with PCA components, showing the reduced, transformed data structure.</a:t>
            </a:r>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1451479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A69CC-0B4C-B9F3-45CC-D75BFD651CAB}"/>
              </a:ext>
            </a:extLst>
          </p:cNvPr>
          <p:cNvSpPr>
            <a:spLocks noGrp="1"/>
          </p:cNvSpPr>
          <p:nvPr>
            <p:ph type="title"/>
          </p:nvPr>
        </p:nvSpPr>
        <p:spPr>
          <a:xfrm>
            <a:off x="0" y="0"/>
            <a:ext cx="5429839" cy="752068"/>
          </a:xfrm>
        </p:spPr>
        <p:txBody>
          <a:bodyPr/>
          <a:lstStyle/>
          <a:p>
            <a:r>
              <a:rPr lang="en-US" dirty="0"/>
              <a:t>ML MODEL</a:t>
            </a:r>
            <a:endParaRPr lang="en-IN" dirty="0"/>
          </a:p>
        </p:txBody>
      </p:sp>
      <p:sp>
        <p:nvSpPr>
          <p:cNvPr id="3" name="Slide Number Placeholder 2">
            <a:extLst>
              <a:ext uri="{FF2B5EF4-FFF2-40B4-BE49-F238E27FC236}">
                <a16:creationId xmlns:a16="http://schemas.microsoft.com/office/drawing/2014/main" id="{993A27BA-D6A5-EBFE-B5D5-8EA838F586B7}"/>
              </a:ext>
            </a:extLst>
          </p:cNvPr>
          <p:cNvSpPr>
            <a:spLocks noGrp="1"/>
          </p:cNvSpPr>
          <p:nvPr>
            <p:ph type="sldNum" sz="quarter" idx="12"/>
          </p:nvPr>
        </p:nvSpPr>
        <p:spPr/>
        <p:txBody>
          <a:bodyPr/>
          <a:lstStyle/>
          <a:p>
            <a:fld id="{1EDEEB96-EEF2-A041-AEC4-04121E2F9632}" type="slidenum">
              <a:rPr lang="en-US" smtClean="0"/>
              <a:t>16</a:t>
            </a:fld>
            <a:endParaRPr lang="en-US"/>
          </a:p>
        </p:txBody>
      </p:sp>
      <p:pic>
        <p:nvPicPr>
          <p:cNvPr id="5" name="Picture 4">
            <a:extLst>
              <a:ext uri="{FF2B5EF4-FFF2-40B4-BE49-F238E27FC236}">
                <a16:creationId xmlns:a16="http://schemas.microsoft.com/office/drawing/2014/main" id="{37DA01BD-335F-3086-A661-82E87D6EE06E}"/>
              </a:ext>
            </a:extLst>
          </p:cNvPr>
          <p:cNvPicPr>
            <a:picLocks noChangeAspect="1"/>
          </p:cNvPicPr>
          <p:nvPr/>
        </p:nvPicPr>
        <p:blipFill>
          <a:blip r:embed="rId2"/>
          <a:stretch>
            <a:fillRect/>
          </a:stretch>
        </p:blipFill>
        <p:spPr>
          <a:xfrm>
            <a:off x="575525" y="1079930"/>
            <a:ext cx="6095510" cy="4957152"/>
          </a:xfrm>
          <a:prstGeom prst="rect">
            <a:avLst/>
          </a:prstGeom>
        </p:spPr>
      </p:pic>
      <p:sp>
        <p:nvSpPr>
          <p:cNvPr id="6" name="TextBox 5">
            <a:extLst>
              <a:ext uri="{FF2B5EF4-FFF2-40B4-BE49-F238E27FC236}">
                <a16:creationId xmlns:a16="http://schemas.microsoft.com/office/drawing/2014/main" id="{F367459F-5097-BA06-0BEB-71E6F778EF38}"/>
              </a:ext>
            </a:extLst>
          </p:cNvPr>
          <p:cNvSpPr txBox="1"/>
          <p:nvPr/>
        </p:nvSpPr>
        <p:spPr>
          <a:xfrm>
            <a:off x="1506718" y="636252"/>
            <a:ext cx="4589282"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t>ENSEMBLE LEARNING USING VOTING</a:t>
            </a:r>
            <a:endParaRPr lang="en-IN" dirty="0"/>
          </a:p>
        </p:txBody>
      </p:sp>
      <p:pic>
        <p:nvPicPr>
          <p:cNvPr id="10" name="Picture 9">
            <a:extLst>
              <a:ext uri="{FF2B5EF4-FFF2-40B4-BE49-F238E27FC236}">
                <a16:creationId xmlns:a16="http://schemas.microsoft.com/office/drawing/2014/main" id="{E48F2EDA-55EC-55D3-4EC1-3714F44C60CB}"/>
              </a:ext>
            </a:extLst>
          </p:cNvPr>
          <p:cNvPicPr>
            <a:picLocks noChangeAspect="1"/>
          </p:cNvPicPr>
          <p:nvPr/>
        </p:nvPicPr>
        <p:blipFill>
          <a:blip r:embed="rId3"/>
          <a:stretch>
            <a:fillRect/>
          </a:stretch>
        </p:blipFill>
        <p:spPr>
          <a:xfrm>
            <a:off x="7474974" y="765057"/>
            <a:ext cx="3668512" cy="5216165"/>
          </a:xfrm>
          <a:prstGeom prst="rect">
            <a:avLst/>
          </a:prstGeom>
        </p:spPr>
      </p:pic>
    </p:spTree>
    <p:extLst>
      <p:ext uri="{BB962C8B-B14F-4D97-AF65-F5344CB8AC3E}">
        <p14:creationId xmlns:p14="http://schemas.microsoft.com/office/powerpoint/2010/main" val="468191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B8619-C735-5D54-1D94-3BCBD90A6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A4C13-8088-885C-74C7-E2DB480982F3}"/>
              </a:ext>
            </a:extLst>
          </p:cNvPr>
          <p:cNvSpPr>
            <a:spLocks noGrp="1"/>
          </p:cNvSpPr>
          <p:nvPr>
            <p:ph type="title"/>
          </p:nvPr>
        </p:nvSpPr>
        <p:spPr>
          <a:xfrm>
            <a:off x="0" y="-14599"/>
            <a:ext cx="5429839" cy="752068"/>
          </a:xfrm>
        </p:spPr>
        <p:txBody>
          <a:bodyPr/>
          <a:lstStyle/>
          <a:p>
            <a:r>
              <a:rPr lang="en-US" dirty="0"/>
              <a:t>ML MODEL</a:t>
            </a:r>
            <a:endParaRPr lang="en-IN" dirty="0"/>
          </a:p>
        </p:txBody>
      </p:sp>
      <p:sp>
        <p:nvSpPr>
          <p:cNvPr id="3" name="Slide Number Placeholder 2">
            <a:extLst>
              <a:ext uri="{FF2B5EF4-FFF2-40B4-BE49-F238E27FC236}">
                <a16:creationId xmlns:a16="http://schemas.microsoft.com/office/drawing/2014/main" id="{1388FDD2-5F98-7039-AA07-093E0EF6FB7E}"/>
              </a:ext>
            </a:extLst>
          </p:cNvPr>
          <p:cNvSpPr>
            <a:spLocks noGrp="1"/>
          </p:cNvSpPr>
          <p:nvPr>
            <p:ph type="sldNum" sz="quarter" idx="12"/>
          </p:nvPr>
        </p:nvSpPr>
        <p:spPr/>
        <p:txBody>
          <a:bodyPr/>
          <a:lstStyle/>
          <a:p>
            <a:fld id="{1EDEEB96-EEF2-A041-AEC4-04121E2F9632}" type="slidenum">
              <a:rPr lang="en-US" smtClean="0"/>
              <a:t>17</a:t>
            </a:fld>
            <a:endParaRPr lang="en-US"/>
          </a:p>
        </p:txBody>
      </p:sp>
      <p:sp>
        <p:nvSpPr>
          <p:cNvPr id="6" name="TextBox 5">
            <a:extLst>
              <a:ext uri="{FF2B5EF4-FFF2-40B4-BE49-F238E27FC236}">
                <a16:creationId xmlns:a16="http://schemas.microsoft.com/office/drawing/2014/main" id="{DC39851A-1F0F-F54B-F34F-4716A8F58F3C}"/>
              </a:ext>
            </a:extLst>
          </p:cNvPr>
          <p:cNvSpPr txBox="1"/>
          <p:nvPr/>
        </p:nvSpPr>
        <p:spPr>
          <a:xfrm>
            <a:off x="208464" y="1764491"/>
            <a:ext cx="3925479" cy="369332"/>
          </a:xfrm>
          <a:prstGeom prst="rect">
            <a:avLst/>
          </a:prstGeom>
          <a:noFill/>
        </p:spPr>
        <p:txBody>
          <a:bodyPr wrap="square" rtlCol="0">
            <a:spAutoFit/>
          </a:bodyPr>
          <a:lstStyle/>
          <a:p>
            <a:r>
              <a:rPr lang="en-US" b="1" dirty="0"/>
              <a:t>ENSEMBLE LEARNING USING VOTING</a:t>
            </a:r>
            <a:endParaRPr lang="en-IN" b="1" dirty="0"/>
          </a:p>
        </p:txBody>
      </p:sp>
      <p:pic>
        <p:nvPicPr>
          <p:cNvPr id="10" name="Picture 9">
            <a:extLst>
              <a:ext uri="{FF2B5EF4-FFF2-40B4-BE49-F238E27FC236}">
                <a16:creationId xmlns:a16="http://schemas.microsoft.com/office/drawing/2014/main" id="{37CCCD33-08A5-621E-36A4-6694887CE22F}"/>
              </a:ext>
            </a:extLst>
          </p:cNvPr>
          <p:cNvPicPr>
            <a:picLocks noChangeAspect="1"/>
          </p:cNvPicPr>
          <p:nvPr/>
        </p:nvPicPr>
        <p:blipFill>
          <a:blip r:embed="rId2"/>
          <a:stretch>
            <a:fillRect/>
          </a:stretch>
        </p:blipFill>
        <p:spPr>
          <a:xfrm>
            <a:off x="75910" y="2174460"/>
            <a:ext cx="4058033" cy="2004373"/>
          </a:xfrm>
          <a:prstGeom prst="rect">
            <a:avLst/>
          </a:prstGeom>
        </p:spPr>
      </p:pic>
      <p:sp>
        <p:nvSpPr>
          <p:cNvPr id="17" name="TextBox 16">
            <a:extLst>
              <a:ext uri="{FF2B5EF4-FFF2-40B4-BE49-F238E27FC236}">
                <a16:creationId xmlns:a16="http://schemas.microsoft.com/office/drawing/2014/main" id="{5CB161C4-DA0C-6F28-DC47-652121EF94DF}"/>
              </a:ext>
            </a:extLst>
          </p:cNvPr>
          <p:cNvSpPr txBox="1"/>
          <p:nvPr/>
        </p:nvSpPr>
        <p:spPr>
          <a:xfrm>
            <a:off x="4267200" y="66675"/>
            <a:ext cx="7848890" cy="59093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Model Initialization</a:t>
            </a:r>
            <a:r>
              <a:rPr kumimoji="0" lang="en-US" altLang="en-US" b="0" i="0" u="none" strike="noStrike" cap="none" normalizeH="0" baseline="0" dirty="0">
                <a:ln>
                  <a:noFill/>
                </a:ln>
                <a:solidFill>
                  <a:schemeClr val="tx1"/>
                </a:solidFill>
                <a:effectLst/>
                <a:latin typeface="Arial" panose="020B0604020202020204" pitchFamily="34" charset="0"/>
              </a:rPr>
              <a:t>: Logistic Regression, Naive Bayes, K-Nearest Neighbors, and Support Vector Machine models are initialized for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Training and Evaluation</a:t>
            </a:r>
            <a:r>
              <a:rPr kumimoji="0" lang="en-US" altLang="en-US" b="0" i="0" u="none" strike="noStrike" cap="none" normalizeH="0" baseline="0" dirty="0">
                <a:ln>
                  <a:noFill/>
                </a:ln>
                <a:solidFill>
                  <a:schemeClr val="tx1"/>
                </a:solidFill>
                <a:effectLst/>
                <a:latin typeface="Arial" panose="020B0604020202020204" pitchFamily="34" charset="0"/>
              </a:rPr>
              <a:t>: Each model is trained on the PCA-transformed training set, and accuracy scores are recorded.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Classification Reports</a:t>
            </a:r>
            <a:r>
              <a:rPr kumimoji="0" lang="en-US" altLang="en-US" b="0" i="0" u="none" strike="noStrike" cap="none" normalizeH="0" baseline="0" dirty="0">
                <a:ln>
                  <a:noFill/>
                </a:ln>
                <a:solidFill>
                  <a:schemeClr val="tx1"/>
                </a:solidFill>
                <a:effectLst/>
                <a:latin typeface="Arial" panose="020B0604020202020204" pitchFamily="34" charset="0"/>
              </a:rPr>
              <a:t>: Detailed reports provide insights into model performance on training data, including precision, recall, and F1 scores.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Voting Classifier</a:t>
            </a:r>
            <a:r>
              <a:rPr kumimoji="0" lang="en-US" altLang="en-US" b="0" i="0" u="none" strike="noStrike" cap="none" normalizeH="0" baseline="0" dirty="0">
                <a:ln>
                  <a:noFill/>
                </a:ln>
                <a:solidFill>
                  <a:schemeClr val="tx1"/>
                </a:solidFill>
                <a:effectLst/>
                <a:latin typeface="Arial" panose="020B0604020202020204" pitchFamily="34" charset="0"/>
              </a:rPr>
              <a:t>: A soft voting classifier combines predictions from Logistic Regression, Naive Bayes, and SVM, aiming for a more robust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Voting Classifier Performance</a:t>
            </a:r>
            <a:r>
              <a:rPr kumimoji="0" lang="en-US" altLang="en-US" b="0" i="0" u="none" strike="noStrike" cap="none" normalizeH="0" baseline="0" dirty="0">
                <a:ln>
                  <a:noFill/>
                </a:ln>
                <a:solidFill>
                  <a:schemeClr val="tx1"/>
                </a:solidFill>
                <a:effectLst/>
                <a:latin typeface="Arial" panose="020B0604020202020204" pitchFamily="34" charset="0"/>
              </a:rPr>
              <a:t>: The voting classifier's accuracy is calculated, providing an additional comparison to individual model accuracies.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Prediction on Test Set</a:t>
            </a:r>
            <a:r>
              <a:rPr kumimoji="0" lang="en-US" altLang="en-US" b="0" i="0" u="none" strike="noStrike" cap="none" normalizeH="0" baseline="0" dirty="0">
                <a:ln>
                  <a:noFill/>
                </a:ln>
                <a:solidFill>
                  <a:schemeClr val="tx1"/>
                </a:solidFill>
                <a:effectLst/>
                <a:latin typeface="Arial" panose="020B0604020202020204" pitchFamily="34" charset="0"/>
              </a:rPr>
              <a:t>: The voting classifier predicts outcomes on the test set, with predictions formatted as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Output Formatting</a:t>
            </a:r>
            <a:r>
              <a:rPr kumimoji="0" lang="en-US" altLang="en-US" b="0" i="0" u="none" strike="noStrike" cap="none" normalizeH="0" baseline="0" dirty="0">
                <a:ln>
                  <a:noFill/>
                </a:ln>
                <a:solidFill>
                  <a:schemeClr val="tx1"/>
                </a:solidFill>
                <a:effectLst/>
                <a:latin typeface="Arial" panose="020B0604020202020204" pitchFamily="34" charset="0"/>
              </a:rPr>
              <a:t>: Results are saved in </a:t>
            </a:r>
            <a:r>
              <a:rPr kumimoji="0" lang="en-US" altLang="en-US" b="0" i="0" u="none" strike="noStrike" cap="none" normalizeH="0" baseline="0" dirty="0">
                <a:ln>
                  <a:noFill/>
                </a:ln>
                <a:solidFill>
                  <a:schemeClr val="tx1"/>
                </a:solidFill>
                <a:effectLst/>
                <a:latin typeface="Arial Unicode MS"/>
              </a:rPr>
              <a:t>submission.csv</a:t>
            </a:r>
            <a:r>
              <a:rPr kumimoji="0" lang="en-US" altLang="en-US" b="0" i="0" u="none" strike="noStrike" cap="none" normalizeH="0" baseline="0" dirty="0">
                <a:ln>
                  <a:noFill/>
                </a:ln>
                <a:solidFill>
                  <a:schemeClr val="tx1"/>
                </a:solidFill>
                <a:effectLst/>
              </a:rPr>
              <a:t>, including a unique 'id' and target prediction.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Accuracy Summary</a:t>
            </a:r>
            <a:r>
              <a:rPr kumimoji="0" lang="en-US" altLang="en-US" b="0" i="0" u="none" strike="noStrike" cap="none" normalizeH="0" baseline="0" dirty="0">
                <a:ln>
                  <a:noFill/>
                </a:ln>
                <a:solidFill>
                  <a:schemeClr val="tx1"/>
                </a:solidFill>
                <a:effectLst/>
                <a:latin typeface="Arial" panose="020B0604020202020204" pitchFamily="34" charset="0"/>
              </a:rPr>
              <a:t>: The dictionary </a:t>
            </a:r>
            <a:r>
              <a:rPr kumimoji="0" lang="en-US" altLang="en-US" b="0" i="0" u="none" strike="noStrike" cap="none" normalizeH="0" baseline="0" dirty="0" err="1">
                <a:ln>
                  <a:noFill/>
                </a:ln>
                <a:solidFill>
                  <a:schemeClr val="tx1"/>
                </a:solidFill>
                <a:effectLst/>
                <a:latin typeface="Arial Unicode MS"/>
              </a:rPr>
              <a:t>model_accuracies</a:t>
            </a:r>
            <a:r>
              <a:rPr kumimoji="0" lang="en-US" altLang="en-US" b="0" i="0" u="none" strike="noStrike" cap="none" normalizeH="0" baseline="0" dirty="0">
                <a:ln>
                  <a:noFill/>
                </a:ln>
                <a:solidFill>
                  <a:schemeClr val="tx1"/>
                </a:solidFill>
                <a:effectLst/>
              </a:rPr>
              <a:t> summarizes the performance of each individual model and the voting classifier.</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Conclusion</a:t>
            </a:r>
            <a:r>
              <a:rPr kumimoji="0" lang="en-US" altLang="en-US" b="0" i="0" u="none" strike="noStrike" cap="none" normalizeH="0" baseline="0" dirty="0">
                <a:ln>
                  <a:noFill/>
                </a:ln>
                <a:solidFill>
                  <a:schemeClr val="tx1"/>
                </a:solidFill>
                <a:effectLst/>
                <a:latin typeface="Arial" panose="020B0604020202020204" pitchFamily="34" charset="0"/>
              </a:rPr>
              <a:t>: This pipeline evaluates multiple models, optimizes with a voting approach, and outputs results in a format suitable for submission.</a:t>
            </a:r>
          </a:p>
          <a:p>
            <a:endParaRPr lang="en-IN" dirty="0"/>
          </a:p>
        </p:txBody>
      </p:sp>
    </p:spTree>
    <p:extLst>
      <p:ext uri="{BB962C8B-B14F-4D97-AF65-F5344CB8AC3E}">
        <p14:creationId xmlns:p14="http://schemas.microsoft.com/office/powerpoint/2010/main" val="24034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2496</TotalTime>
  <Words>2325</Words>
  <Application>Microsoft Office PowerPoint</Application>
  <PresentationFormat>Widescreen</PresentationFormat>
  <Paragraphs>203</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Unicode MS</vt:lpstr>
      <vt:lpstr>Bookman Old Style</vt:lpstr>
      <vt:lpstr>Calibri</vt:lpstr>
      <vt:lpstr>Source Sans Pro</vt:lpstr>
      <vt:lpstr>var(--jp-content-font-family)</vt:lpstr>
      <vt:lpstr>Wingdings</vt:lpstr>
      <vt:lpstr>Office Theme</vt:lpstr>
      <vt:lpstr>Tele-Call Predictor  (Predict the success of Bank Telemarketing)</vt:lpstr>
      <vt:lpstr>EDA - Predict the Success of Bank telemarketing</vt:lpstr>
      <vt:lpstr>Description of Columns of the dataset</vt:lpstr>
      <vt:lpstr>Structured Data Types</vt:lpstr>
      <vt:lpstr>EDA - Predict the Success of Bank telemarketing</vt:lpstr>
      <vt:lpstr>EDA -Binning</vt:lpstr>
      <vt:lpstr>Univariate v/s  Bivariate v/s Multivariate</vt:lpstr>
      <vt:lpstr>Univariate Analysis</vt:lpstr>
      <vt:lpstr>Bivariate Analysis</vt:lpstr>
      <vt:lpstr>Multivariate Analysis</vt:lpstr>
      <vt:lpstr>Multivariate Analysis</vt:lpstr>
      <vt:lpstr>Hypothesis Testing</vt:lpstr>
      <vt:lpstr>Data Transformation</vt:lpstr>
      <vt:lpstr>Data Reduction</vt:lpstr>
      <vt:lpstr>Data Reduction</vt:lpstr>
      <vt:lpstr>ML MODEL</vt:lpstr>
      <vt:lpstr>ML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SAI CHARISH REDDIPALLI</cp:lastModifiedBy>
  <cp:revision>53</cp:revision>
  <cp:lastPrinted>2024-11-06T17:19:34Z</cp:lastPrinted>
  <dcterms:created xsi:type="dcterms:W3CDTF">2016-10-19T11:41:44Z</dcterms:created>
  <dcterms:modified xsi:type="dcterms:W3CDTF">2024-11-06T17:26:04Z</dcterms:modified>
</cp:coreProperties>
</file>